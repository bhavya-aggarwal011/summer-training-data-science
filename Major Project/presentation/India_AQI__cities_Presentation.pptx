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Mention the dataset has 10,000 rows of daily AQI readings across 12 Indian cities from 2023 to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air quality monitoring matters in India. Mention the three main objectives of this project: identification, trend analysis, and health impact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dataset structure. Emphasize 20 columns covering pollutants, weather factors, and socio-economic indicators — making it ideal for multi-dimensional AQI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preparation step. Emphasize that no missing values were found, and the main work was adding derived columns and creating relationships between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quick tour of the 7 dashboard pages. This slide helps the audience understand what to expect before diving into each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overview dashboard. Point out the KPI cards first, then walk through the donut chart showing AQI category distribution, and the trend line showing AQI over 3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chart at the bottom is a native chart showing approximate values. Replace with your actual Power BI screenshot. Point out that the difference between cities is relatively small — characteristic of a synthetic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your actual Power BI screenshots in these placeholders. PM10 and PM2_5 are typically the dominant pollutants in Indian cities — use this insight in your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real-world seasonal AQI patterns in India even if the dataset shows uniform values. This demonstrates your domain understanding beyond just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concept of 'drivers' — factors that influence AQI. Since the dataset is synthetic, scatter plots showed no correlation, so bar charts using AQI_Category as the axis were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health advisories — this is where your data analysis becomes actionable. Identify cities that need government intervention or policy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key DAX measures. Emphasize RANKX for dynamic ranking, SAMEPERIODLASTYEAR for year-over-year comparison, and the Severe Days measure which filters rows by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6 key findings from your analysis. These are the main takeaways the audience should remember. Speak to each briefly.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conclusion and recommendations. Thank the audience and invite questions. Offer to demo the Power BI dashboard live if time permits.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1C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1097280"/>
            <a:ext cx="8229600" cy="1005840"/>
          </a:xfrm>
          <a:prstGeom prst="rect">
            <a:avLst/>
          </a:prstGeom>
          <a:noFill/>
        </p:spPr>
        <p:txBody>
          <a:bodyPr wrap="square" rtlCol="0" anchor="ctr"/>
          <a:lstStyle/>
          <a:p>
            <a:pPr marL="0" indent="0" algn="ctr">
              <a:buNone/>
            </a:pPr>
            <a:r>
              <a:rPr lang="en-US" sz="4200" b="1" dirty="0">
                <a:solidFill>
                  <a:srgbClr val="FFFFFF"/>
                </a:solidFill>
                <a:latin typeface="Cambria" panose="02040503050406030204" pitchFamily="34" charset="0"/>
                <a:ea typeface="Cambria" panose="02040503050406030204" pitchFamily="34" charset="-122"/>
                <a:cs typeface="Cambria" panose="02040503050406030204" pitchFamily="34" charset="-120"/>
              </a:rPr>
              <a:t>India Air Quality Analysis</a:t>
            </a:r>
            <a:endParaRPr lang="en-US" sz="4200" dirty="0"/>
          </a:p>
        </p:txBody>
      </p:sp>
      <p:sp>
        <p:nvSpPr>
          <p:cNvPr id="4" name="Text 2"/>
          <p:cNvSpPr/>
          <p:nvPr/>
        </p:nvSpPr>
        <p:spPr>
          <a:xfrm>
            <a:off x="731520" y="2194560"/>
            <a:ext cx="7680960" cy="640080"/>
          </a:xfrm>
          <a:prstGeom prst="rect">
            <a:avLst/>
          </a:prstGeom>
          <a:noFill/>
        </p:spPr>
        <p:txBody>
          <a:bodyPr wrap="square" rtlCol="0" anchor="ctr"/>
          <a:lstStyle/>
          <a:p>
            <a:pPr marL="0" indent="0" algn="ctr">
              <a:buNone/>
            </a:pPr>
            <a:r>
              <a:rPr lang="en-US" sz="1800" i="1" dirty="0">
                <a:solidFill>
                  <a:srgbClr val="A0C8D8"/>
                </a:solidFill>
                <a:latin typeface="Calibri" panose="020F0502020204030204" pitchFamily="34" charset="0"/>
                <a:ea typeface="Calibri" panose="020F0502020204030204" pitchFamily="34" charset="-122"/>
                <a:cs typeface="Calibri" panose="020F0502020204030204" pitchFamily="34" charset="-120"/>
              </a:rPr>
              <a:t>A Power BI Dashboard Project on AQI Patterns Across Indian Cities</a:t>
            </a:r>
            <a:endParaRPr lang="en-US" sz="1800" dirty="0"/>
          </a:p>
        </p:txBody>
      </p:sp>
      <p:sp>
        <p:nvSpPr>
          <p:cNvPr id="5" name="Shape 3"/>
          <p:cNvSpPr/>
          <p:nvPr/>
        </p:nvSpPr>
        <p:spPr>
          <a:xfrm>
            <a:off x="1097280" y="3063240"/>
            <a:ext cx="2011680" cy="1005840"/>
          </a:xfrm>
          <a:prstGeom prst="roundRect">
            <a:avLst>
              <a:gd name="adj" fmla="val 9091"/>
            </a:avLst>
          </a:prstGeom>
          <a:solidFill>
            <a:srgbClr val="0D3A52"/>
          </a:solidFill>
        </p:spPr>
      </p:sp>
      <p:sp>
        <p:nvSpPr>
          <p:cNvPr id="6" name="Text 4"/>
          <p:cNvSpPr/>
          <p:nvPr/>
        </p:nvSpPr>
        <p:spPr>
          <a:xfrm>
            <a:off x="1097280" y="3090672"/>
            <a:ext cx="2011680" cy="502920"/>
          </a:xfrm>
          <a:prstGeom prst="rect">
            <a:avLst/>
          </a:prstGeom>
          <a:noFill/>
        </p:spPr>
        <p:txBody>
          <a:bodyPr wrap="square" rtlCol="0" anchor="ctr"/>
          <a:lstStyle/>
          <a:p>
            <a:pPr marL="0" indent="0" algn="ctr">
              <a:buNone/>
            </a:pPr>
            <a:r>
              <a:rPr lang="en-US" sz="2600" b="1" dirty="0">
                <a:solidFill>
                  <a:srgbClr val="02C39A"/>
                </a:solidFill>
                <a:latin typeface="Cambria" panose="02040503050406030204" pitchFamily="34" charset="0"/>
                <a:ea typeface="Cambria" panose="02040503050406030204" pitchFamily="34" charset="-122"/>
                <a:cs typeface="Cambria" panose="02040503050406030204" pitchFamily="34" charset="-120"/>
              </a:rPr>
              <a:t>10,000</a:t>
            </a:r>
            <a:endParaRPr lang="en-US" sz="2600" dirty="0"/>
          </a:p>
        </p:txBody>
      </p:sp>
      <p:sp>
        <p:nvSpPr>
          <p:cNvPr id="7" name="Text 5"/>
          <p:cNvSpPr/>
          <p:nvPr/>
        </p:nvSpPr>
        <p:spPr>
          <a:xfrm>
            <a:off x="1097280" y="3547872"/>
            <a:ext cx="2011680" cy="365760"/>
          </a:xfrm>
          <a:prstGeom prst="rect">
            <a:avLst/>
          </a:prstGeom>
          <a:noFill/>
        </p:spPr>
        <p:txBody>
          <a:bodyPr wrap="square" rtlCol="0" anchor="ctr"/>
          <a:lstStyle/>
          <a:p>
            <a:pPr marL="0" indent="0" algn="ctr">
              <a:buNone/>
            </a:pPr>
            <a:r>
              <a:rPr lang="en-US" sz="1300" dirty="0">
                <a:solidFill>
                  <a:srgbClr val="A0C8D8"/>
                </a:solidFill>
                <a:latin typeface="Calibri" panose="020F0502020204030204" pitchFamily="34" charset="0"/>
                <a:ea typeface="Calibri" panose="020F0502020204030204" pitchFamily="34" charset="-122"/>
                <a:cs typeface="Calibri" panose="020F0502020204030204" pitchFamily="34" charset="-120"/>
              </a:rPr>
              <a:t>Records</a:t>
            </a:r>
            <a:endParaRPr lang="en-US" sz="1300" dirty="0"/>
          </a:p>
        </p:txBody>
      </p:sp>
      <p:sp>
        <p:nvSpPr>
          <p:cNvPr id="8" name="Shape 6"/>
          <p:cNvSpPr/>
          <p:nvPr/>
        </p:nvSpPr>
        <p:spPr>
          <a:xfrm>
            <a:off x="3657600" y="3063240"/>
            <a:ext cx="2011680" cy="1005840"/>
          </a:xfrm>
          <a:prstGeom prst="roundRect">
            <a:avLst>
              <a:gd name="adj" fmla="val 9091"/>
            </a:avLst>
          </a:prstGeom>
          <a:solidFill>
            <a:srgbClr val="0D3A52"/>
          </a:solidFill>
        </p:spPr>
      </p:sp>
      <p:sp>
        <p:nvSpPr>
          <p:cNvPr id="9" name="Text 7"/>
          <p:cNvSpPr/>
          <p:nvPr/>
        </p:nvSpPr>
        <p:spPr>
          <a:xfrm>
            <a:off x="3657600" y="3090672"/>
            <a:ext cx="2011680" cy="502920"/>
          </a:xfrm>
          <a:prstGeom prst="rect">
            <a:avLst/>
          </a:prstGeom>
          <a:noFill/>
        </p:spPr>
        <p:txBody>
          <a:bodyPr wrap="square" rtlCol="0" anchor="ctr"/>
          <a:lstStyle/>
          <a:p>
            <a:pPr marL="0" indent="0" algn="ctr">
              <a:buNone/>
            </a:pPr>
            <a:r>
              <a:rPr lang="en-US" sz="2600" b="1" dirty="0">
                <a:solidFill>
                  <a:srgbClr val="02C39A"/>
                </a:solidFill>
                <a:latin typeface="Cambria" panose="02040503050406030204" pitchFamily="34" charset="0"/>
                <a:ea typeface="Cambria" panose="02040503050406030204" pitchFamily="34" charset="-122"/>
                <a:cs typeface="Cambria" panose="02040503050406030204" pitchFamily="34" charset="-120"/>
              </a:rPr>
              <a:t>12</a:t>
            </a:r>
            <a:endParaRPr lang="en-US" sz="2600" dirty="0"/>
          </a:p>
        </p:txBody>
      </p:sp>
      <p:sp>
        <p:nvSpPr>
          <p:cNvPr id="10" name="Text 8"/>
          <p:cNvSpPr/>
          <p:nvPr/>
        </p:nvSpPr>
        <p:spPr>
          <a:xfrm>
            <a:off x="3657600" y="3547872"/>
            <a:ext cx="2011680" cy="365760"/>
          </a:xfrm>
          <a:prstGeom prst="rect">
            <a:avLst/>
          </a:prstGeom>
          <a:noFill/>
        </p:spPr>
        <p:txBody>
          <a:bodyPr wrap="square" rtlCol="0" anchor="ctr"/>
          <a:lstStyle/>
          <a:p>
            <a:pPr marL="0" indent="0" algn="ctr">
              <a:buNone/>
            </a:pPr>
            <a:r>
              <a:rPr lang="en-US" sz="1300" dirty="0">
                <a:solidFill>
                  <a:srgbClr val="A0C8D8"/>
                </a:solidFill>
                <a:latin typeface="Calibri" panose="020F0502020204030204" pitchFamily="34" charset="0"/>
                <a:ea typeface="Calibri" panose="020F0502020204030204" pitchFamily="34" charset="-122"/>
                <a:cs typeface="Calibri" panose="020F0502020204030204" pitchFamily="34" charset="-120"/>
              </a:rPr>
              <a:t>Cities</a:t>
            </a:r>
            <a:endParaRPr lang="en-US" sz="1300" dirty="0"/>
          </a:p>
        </p:txBody>
      </p:sp>
      <p:sp>
        <p:nvSpPr>
          <p:cNvPr id="11" name="Shape 9"/>
          <p:cNvSpPr/>
          <p:nvPr/>
        </p:nvSpPr>
        <p:spPr>
          <a:xfrm>
            <a:off x="6217920" y="3063240"/>
            <a:ext cx="2011680" cy="1005840"/>
          </a:xfrm>
          <a:prstGeom prst="roundRect">
            <a:avLst>
              <a:gd name="adj" fmla="val 9091"/>
            </a:avLst>
          </a:prstGeom>
          <a:solidFill>
            <a:srgbClr val="0D3A52"/>
          </a:solidFill>
        </p:spPr>
      </p:sp>
      <p:sp>
        <p:nvSpPr>
          <p:cNvPr id="12" name="Text 10"/>
          <p:cNvSpPr/>
          <p:nvPr/>
        </p:nvSpPr>
        <p:spPr>
          <a:xfrm>
            <a:off x="6217920" y="3090672"/>
            <a:ext cx="2011680" cy="502920"/>
          </a:xfrm>
          <a:prstGeom prst="rect">
            <a:avLst/>
          </a:prstGeom>
          <a:noFill/>
        </p:spPr>
        <p:txBody>
          <a:bodyPr wrap="square" rtlCol="0" anchor="ctr"/>
          <a:lstStyle/>
          <a:p>
            <a:pPr marL="0" indent="0" algn="ctr">
              <a:buNone/>
            </a:pPr>
            <a:r>
              <a:rPr lang="en-US" sz="2600" b="1" dirty="0">
                <a:solidFill>
                  <a:srgbClr val="02C39A"/>
                </a:solidFill>
                <a:latin typeface="Cambria" panose="02040503050406030204" pitchFamily="34" charset="0"/>
                <a:ea typeface="Cambria" panose="02040503050406030204" pitchFamily="34" charset="-122"/>
                <a:cs typeface="Cambria" panose="02040503050406030204" pitchFamily="34" charset="-120"/>
              </a:rPr>
              <a:t>3 Yrs</a:t>
            </a:r>
            <a:endParaRPr lang="en-US" sz="2600" dirty="0"/>
          </a:p>
        </p:txBody>
      </p:sp>
      <p:sp>
        <p:nvSpPr>
          <p:cNvPr id="13" name="Text 11"/>
          <p:cNvSpPr/>
          <p:nvPr/>
        </p:nvSpPr>
        <p:spPr>
          <a:xfrm>
            <a:off x="6217920" y="3547872"/>
            <a:ext cx="2011680" cy="365760"/>
          </a:xfrm>
          <a:prstGeom prst="rect">
            <a:avLst/>
          </a:prstGeom>
          <a:noFill/>
        </p:spPr>
        <p:txBody>
          <a:bodyPr wrap="square" rtlCol="0" anchor="ctr"/>
          <a:lstStyle/>
          <a:p>
            <a:pPr marL="0" indent="0" algn="ctr">
              <a:buNone/>
            </a:pPr>
            <a:r>
              <a:rPr lang="en-US" sz="1300" dirty="0">
                <a:solidFill>
                  <a:srgbClr val="A0C8D8"/>
                </a:solidFill>
                <a:latin typeface="Calibri" panose="020F0502020204030204" pitchFamily="34" charset="0"/>
                <a:ea typeface="Calibri" panose="020F0502020204030204" pitchFamily="34" charset="-122"/>
                <a:cs typeface="Calibri" panose="020F0502020204030204" pitchFamily="34" charset="-120"/>
              </a:rPr>
              <a:t>2023–2025</a:t>
            </a:r>
            <a:endParaRPr lang="en-US" sz="1300" dirty="0"/>
          </a:p>
        </p:txBody>
      </p:sp>
      <p:sp>
        <p:nvSpPr>
          <p:cNvPr id="14" name="Text 12"/>
          <p:cNvSpPr/>
          <p:nvPr/>
        </p:nvSpPr>
        <p:spPr>
          <a:xfrm>
            <a:off x="457200" y="4389120"/>
            <a:ext cx="8229600" cy="365760"/>
          </a:xfrm>
          <a:prstGeom prst="rect">
            <a:avLst/>
          </a:prstGeom>
          <a:noFill/>
        </p:spPr>
        <p:txBody>
          <a:bodyPr wrap="square" rtlCol="0" anchor="ctr"/>
          <a:lstStyle/>
          <a:p>
            <a:pPr marL="0" indent="0" algn="ctr">
              <a:buNone/>
            </a:pPr>
            <a:r>
              <a:rPr lang="en-US" sz="1100" dirty="0">
                <a:solidFill>
                  <a:srgbClr val="4A7D95"/>
                </a:solidFill>
                <a:latin typeface="Calibri" panose="020F0502020204030204" pitchFamily="34" charset="0"/>
                <a:ea typeface="Calibri" panose="020F0502020204030204" pitchFamily="34" charset="-122"/>
                <a:cs typeface="Calibri" panose="020F0502020204030204" pitchFamily="34" charset="-120"/>
              </a:rPr>
              <a:t>Tools: Power BI Desktop  |  Power Query  |  DAX  |  PptxGenJS</a:t>
            </a:r>
            <a:endParaRPr lang="en-US" sz="1100" dirty="0"/>
          </a:p>
        </p:txBody>
      </p:sp>
      <p:sp>
        <p:nvSpPr>
          <p:cNvPr id="15" name="Shape 13"/>
          <p:cNvSpPr/>
          <p:nvPr/>
        </p:nvSpPr>
        <p:spPr>
          <a:xfrm>
            <a:off x="0" y="5070348"/>
            <a:ext cx="9144000" cy="73152"/>
          </a:xfrm>
          <a:prstGeom prst="rect">
            <a:avLst/>
          </a:prstGeom>
          <a:solidFill>
            <a:srgbClr val="02C39A"/>
          </a:solidFill>
          <a:ln w="12700">
            <a:solidFill>
              <a:srgbClr val="02C39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Problem Statement</a:t>
            </a:r>
            <a:endParaRPr lang="en-US" sz="3000" dirty="0"/>
          </a:p>
        </p:txBody>
      </p:sp>
      <p:sp>
        <p:nvSpPr>
          <p:cNvPr id="4" name="Shape 2"/>
          <p:cNvSpPr/>
          <p:nvPr/>
        </p:nvSpPr>
        <p:spPr>
          <a:xfrm>
            <a:off x="365760" y="914400"/>
            <a:ext cx="8412480" cy="1097280"/>
          </a:xfrm>
          <a:prstGeom prst="roundRect">
            <a:avLst>
              <a:gd name="adj" fmla="val 8333"/>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548640" y="960120"/>
            <a:ext cx="8046720" cy="1005840"/>
          </a:xfrm>
          <a:prstGeom prst="rect">
            <a:avLst/>
          </a:prstGeom>
          <a:noFill/>
        </p:spPr>
        <p:txBody>
          <a:bodyPr wrap="square" rtlCol="0" anchor="ctr"/>
          <a:lstStyle/>
          <a:p>
            <a:pPr marL="0" indent="0" algn="l">
              <a:buNone/>
            </a:pPr>
            <a:r>
              <a:rPr lang="en-US" sz="1400" dirty="0">
                <a:solidFill>
                  <a:srgbClr val="1E293B"/>
                </a:solidFill>
                <a:latin typeface="Calibri" panose="020F0502020204030204" pitchFamily="34" charset="0"/>
                <a:ea typeface="Calibri" panose="020F0502020204030204" pitchFamily="34" charset="-122"/>
                <a:cs typeface="Calibri" panose="020F0502020204030204" pitchFamily="34" charset="-120"/>
              </a:rPr>
              <a:t>Air pollution is one of the most critical environmental challenges in India. With rapid urbanization, industrial growth, and increasing traffic, air quality across Indian cities has deteriorated significantly, posing serious health risks to millions of citizens.</a:t>
            </a:r>
            <a:endParaRPr lang="en-US" sz="1400" dirty="0"/>
          </a:p>
        </p:txBody>
      </p:sp>
      <p:sp>
        <p:nvSpPr>
          <p:cNvPr id="6" name="Shape 4"/>
          <p:cNvSpPr/>
          <p:nvPr/>
        </p:nvSpPr>
        <p:spPr>
          <a:xfrm>
            <a:off x="365760" y="2240280"/>
            <a:ext cx="2651760" cy="2560320"/>
          </a:xfrm>
          <a:prstGeom prst="roundRect">
            <a:avLst>
              <a:gd name="adj" fmla="val 4286"/>
            </a:avLst>
          </a:prstGeom>
          <a:solidFill>
            <a:srgbClr val="F0F9FB"/>
          </a:solidFill>
          <a:effectLst>
            <a:outerShdw blurRad="76200" dist="25400" dir="2700000" algn="bl" rotWithShape="0">
              <a:srgbClr val="000000">
                <a:alpha val="12000"/>
              </a:srgbClr>
            </a:outerShdw>
          </a:effectLst>
        </p:spPr>
      </p:sp>
      <p:sp>
        <p:nvSpPr>
          <p:cNvPr id="7" name="Text 5"/>
          <p:cNvSpPr/>
          <p:nvPr/>
        </p:nvSpPr>
        <p:spPr>
          <a:xfrm>
            <a:off x="365760" y="2331720"/>
            <a:ext cx="2651760" cy="502920"/>
          </a:xfrm>
          <a:prstGeom prst="rect">
            <a:avLst/>
          </a:prstGeom>
          <a:noFill/>
        </p:spPr>
        <p:txBody>
          <a:bodyPr wrap="square"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365760" y="2852928"/>
            <a:ext cx="2651760" cy="384048"/>
          </a:xfrm>
          <a:prstGeom prst="rect">
            <a:avLst/>
          </a:prstGeom>
          <a:noFill/>
        </p:spPr>
        <p:txBody>
          <a:bodyPr wrap="square" rtlCol="0" anchor="ctr"/>
          <a:lstStyle/>
          <a:p>
            <a:pPr marL="0" indent="0" algn="ctr">
              <a:buNone/>
            </a:pPr>
            <a:r>
              <a:rPr lang="en-US" sz="1600" b="1" dirty="0">
                <a:solidFill>
                  <a:srgbClr val="065A82"/>
                </a:solidFill>
                <a:latin typeface="Cambria" panose="02040503050406030204" pitchFamily="34" charset="0"/>
                <a:ea typeface="Cambria" panose="02040503050406030204" pitchFamily="34" charset="-122"/>
                <a:cs typeface="Cambria" panose="02040503050406030204" pitchFamily="34" charset="-120"/>
              </a:rPr>
              <a:t>Identify</a:t>
            </a:r>
            <a:endParaRPr lang="en-US" sz="1600" dirty="0"/>
          </a:p>
        </p:txBody>
      </p:sp>
      <p:sp>
        <p:nvSpPr>
          <p:cNvPr id="9" name="Text 7"/>
          <p:cNvSpPr/>
          <p:nvPr/>
        </p:nvSpPr>
        <p:spPr>
          <a:xfrm>
            <a:off x="457200" y="3255264"/>
            <a:ext cx="2468880" cy="1371600"/>
          </a:xfrm>
          <a:prstGeom prst="rect">
            <a:avLst/>
          </a:prstGeom>
          <a:noFill/>
        </p:spPr>
        <p:txBody>
          <a:bodyPr wrap="square" rtlCol="0" anchor="ctr"/>
          <a:lstStyle/>
          <a:p>
            <a:pPr marL="0" indent="0" algn="ctr">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Which cities and states have the worst air quality and what pollutants dominate.</a:t>
            </a:r>
            <a:endParaRPr lang="en-US" sz="1200" dirty="0"/>
          </a:p>
        </p:txBody>
      </p:sp>
      <p:sp>
        <p:nvSpPr>
          <p:cNvPr id="10" name="Shape 8"/>
          <p:cNvSpPr/>
          <p:nvPr/>
        </p:nvSpPr>
        <p:spPr>
          <a:xfrm>
            <a:off x="3200400" y="2240280"/>
            <a:ext cx="2651760" cy="2560320"/>
          </a:xfrm>
          <a:prstGeom prst="roundRect">
            <a:avLst>
              <a:gd name="adj" fmla="val 4286"/>
            </a:avLst>
          </a:prstGeom>
          <a:solidFill>
            <a:srgbClr val="F0F9FB"/>
          </a:solidFill>
          <a:effectLst>
            <a:outerShdw blurRad="76200" dist="25400" dir="2700000" algn="bl" rotWithShape="0">
              <a:srgbClr val="000000">
                <a:alpha val="12000"/>
              </a:srgbClr>
            </a:outerShdw>
          </a:effectLst>
        </p:spPr>
      </p:sp>
      <p:sp>
        <p:nvSpPr>
          <p:cNvPr id="11" name="Text 9"/>
          <p:cNvSpPr/>
          <p:nvPr/>
        </p:nvSpPr>
        <p:spPr>
          <a:xfrm>
            <a:off x="3200400" y="2331720"/>
            <a:ext cx="2651760" cy="502920"/>
          </a:xfrm>
          <a:prstGeom prst="rect">
            <a:avLst/>
          </a:prstGeom>
          <a:noFill/>
        </p:spPr>
        <p:txBody>
          <a:bodyPr wrap="square"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3200400" y="2852928"/>
            <a:ext cx="2651760" cy="384048"/>
          </a:xfrm>
          <a:prstGeom prst="rect">
            <a:avLst/>
          </a:prstGeom>
          <a:noFill/>
        </p:spPr>
        <p:txBody>
          <a:bodyPr wrap="square" rtlCol="0" anchor="ctr"/>
          <a:lstStyle/>
          <a:p>
            <a:pPr marL="0" indent="0" algn="ctr">
              <a:buNone/>
            </a:pPr>
            <a:r>
              <a:rPr lang="en-US" sz="1600" b="1" dirty="0">
                <a:solidFill>
                  <a:srgbClr val="065A82"/>
                </a:solidFill>
                <a:latin typeface="Cambria" panose="02040503050406030204" pitchFamily="34" charset="0"/>
                <a:ea typeface="Cambria" panose="02040503050406030204" pitchFamily="34" charset="-122"/>
                <a:cs typeface="Cambria" panose="02040503050406030204" pitchFamily="34" charset="-120"/>
              </a:rPr>
              <a:t>Analyze</a:t>
            </a:r>
            <a:endParaRPr lang="en-US" sz="1600" dirty="0"/>
          </a:p>
        </p:txBody>
      </p:sp>
      <p:sp>
        <p:nvSpPr>
          <p:cNvPr id="13" name="Text 11"/>
          <p:cNvSpPr/>
          <p:nvPr/>
        </p:nvSpPr>
        <p:spPr>
          <a:xfrm>
            <a:off x="3291840" y="3255264"/>
            <a:ext cx="2468880" cy="1371600"/>
          </a:xfrm>
          <a:prstGeom prst="rect">
            <a:avLst/>
          </a:prstGeom>
          <a:noFill/>
        </p:spPr>
        <p:txBody>
          <a:bodyPr wrap="square" rtlCol="0" anchor="ctr"/>
          <a:lstStyle/>
          <a:p>
            <a:pPr marL="0" indent="0" algn="ctr">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Seasonal, monthly and yearly AQI trends and how weather affects pollution.</a:t>
            </a:r>
            <a:endParaRPr lang="en-US" sz="1200" dirty="0"/>
          </a:p>
        </p:txBody>
      </p:sp>
      <p:sp>
        <p:nvSpPr>
          <p:cNvPr id="14" name="Shape 12"/>
          <p:cNvSpPr/>
          <p:nvPr/>
        </p:nvSpPr>
        <p:spPr>
          <a:xfrm>
            <a:off x="6035040" y="2240280"/>
            <a:ext cx="2651760" cy="2560320"/>
          </a:xfrm>
          <a:prstGeom prst="roundRect">
            <a:avLst>
              <a:gd name="adj" fmla="val 4286"/>
            </a:avLst>
          </a:prstGeom>
          <a:solidFill>
            <a:srgbClr val="F0F9FB"/>
          </a:solidFill>
          <a:effectLst>
            <a:outerShdw blurRad="76200" dist="25400" dir="2700000" algn="bl" rotWithShape="0">
              <a:srgbClr val="000000">
                <a:alpha val="12000"/>
              </a:srgbClr>
            </a:outerShdw>
          </a:effectLst>
        </p:spPr>
      </p:sp>
      <p:sp>
        <p:nvSpPr>
          <p:cNvPr id="15" name="Text 13"/>
          <p:cNvSpPr/>
          <p:nvPr/>
        </p:nvSpPr>
        <p:spPr>
          <a:xfrm>
            <a:off x="6035040" y="2331720"/>
            <a:ext cx="2651760" cy="502920"/>
          </a:xfrm>
          <a:prstGeom prst="rect">
            <a:avLst/>
          </a:prstGeom>
          <a:noFill/>
        </p:spPr>
        <p:txBody>
          <a:bodyPr wrap="square" rtlCol="0" anchor="ctr"/>
          <a:lstStyle/>
          <a:p>
            <a:pPr marL="0" indent="0" algn="ctr">
              <a:buNone/>
            </a:pPr>
            <a:r>
              <a:rPr lang="en-US" sz="2800" dirty="0">
                <a:solidFill>
                  <a:srgbClr val="000000"/>
                </a:solidFill>
              </a:rPr>
              <a:t>🏥</a:t>
            </a:r>
            <a:endParaRPr lang="en-US" sz="2800" dirty="0"/>
          </a:p>
        </p:txBody>
      </p:sp>
      <p:sp>
        <p:nvSpPr>
          <p:cNvPr id="16" name="Text 14"/>
          <p:cNvSpPr/>
          <p:nvPr/>
        </p:nvSpPr>
        <p:spPr>
          <a:xfrm>
            <a:off x="6035040" y="2852928"/>
            <a:ext cx="2651760" cy="384048"/>
          </a:xfrm>
          <a:prstGeom prst="rect">
            <a:avLst/>
          </a:prstGeom>
          <a:noFill/>
        </p:spPr>
        <p:txBody>
          <a:bodyPr wrap="square" rtlCol="0" anchor="ctr"/>
          <a:lstStyle/>
          <a:p>
            <a:pPr marL="0" indent="0" algn="ctr">
              <a:buNone/>
            </a:pPr>
            <a:r>
              <a:rPr lang="en-US" sz="1600" b="1" dirty="0">
                <a:solidFill>
                  <a:srgbClr val="065A82"/>
                </a:solidFill>
                <a:latin typeface="Cambria" panose="02040503050406030204" pitchFamily="34" charset="0"/>
                <a:ea typeface="Cambria" panose="02040503050406030204" pitchFamily="34" charset="-122"/>
                <a:cs typeface="Cambria" panose="02040503050406030204" pitchFamily="34" charset="-120"/>
              </a:rPr>
              <a:t>Assess</a:t>
            </a:r>
            <a:endParaRPr lang="en-US" sz="1600" dirty="0"/>
          </a:p>
        </p:txBody>
      </p:sp>
      <p:sp>
        <p:nvSpPr>
          <p:cNvPr id="17" name="Text 15"/>
          <p:cNvSpPr/>
          <p:nvPr/>
        </p:nvSpPr>
        <p:spPr>
          <a:xfrm>
            <a:off x="6126480" y="3255264"/>
            <a:ext cx="2468880" cy="1371600"/>
          </a:xfrm>
          <a:prstGeom prst="rect">
            <a:avLst/>
          </a:prstGeom>
          <a:noFill/>
        </p:spPr>
        <p:txBody>
          <a:bodyPr wrap="square" rtlCol="0" anchor="ctr"/>
          <a:lstStyle/>
          <a:p>
            <a:pPr marL="0" indent="0" algn="ctr">
              <a:buNone/>
            </a:pPr>
            <a:r>
              <a:rPr lang="en-US" sz="1200" dirty="0">
                <a:solidFill>
                  <a:srgbClr val="64748B"/>
                </a:solidFill>
                <a:latin typeface="Calibri" panose="020F0502020204030204" pitchFamily="34" charset="0"/>
                <a:ea typeface="Calibri" panose="020F0502020204030204" pitchFamily="34" charset="-122"/>
                <a:cs typeface="Calibri" panose="020F0502020204030204" pitchFamily="34" charset="-120"/>
              </a:rPr>
              <a:t>Health impact through advisory levels and count of hazardous air quality days.</a:t>
            </a:r>
            <a:endParaRPr lang="en-US" sz="1200" dirty="0"/>
          </a:p>
        </p:txBody>
      </p:sp>
      <p:sp>
        <p:nvSpPr>
          <p:cNvPr id="18" name="Shape 16"/>
          <p:cNvSpPr/>
          <p:nvPr/>
        </p:nvSpPr>
        <p:spPr>
          <a:xfrm>
            <a:off x="0" y="5070348"/>
            <a:ext cx="9144000" cy="73152"/>
          </a:xfrm>
          <a:prstGeom prst="rect">
            <a:avLst/>
          </a:prstGeom>
          <a:solidFill>
            <a:srgbClr val="065A82"/>
          </a:solidFill>
          <a:ln w="12700">
            <a:solidFill>
              <a:srgbClr val="065A82"/>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3000" b="1" dirty="0">
                <a:solidFill>
                  <a:srgbClr val="1C7293"/>
                </a:solidFill>
                <a:latin typeface="Cambria" panose="02040503050406030204" pitchFamily="34" charset="0"/>
                <a:ea typeface="Cambria" panose="02040503050406030204" pitchFamily="34" charset="-122"/>
                <a:cs typeface="Cambria" panose="02040503050406030204" pitchFamily="34" charset="-120"/>
              </a:rPr>
              <a:t>About the Dataset</a:t>
            </a:r>
            <a:endParaRPr lang="en-US" sz="3000" dirty="0"/>
          </a:p>
        </p:txBody>
      </p:sp>
      <p:sp>
        <p:nvSpPr>
          <p:cNvPr id="4" name="Shape 2"/>
          <p:cNvSpPr/>
          <p:nvPr/>
        </p:nvSpPr>
        <p:spPr>
          <a:xfrm>
            <a:off x="365760" y="914400"/>
            <a:ext cx="4114800" cy="4023360"/>
          </a:xfrm>
          <a:prstGeom prst="roundRect">
            <a:avLst>
              <a:gd name="adj" fmla="val 2273"/>
            </a:avLst>
          </a:prstGeom>
          <a:solidFill>
            <a:srgbClr val="F0F9FB"/>
          </a:solidFill>
          <a:effectLst>
            <a:outerShdw blurRad="76200" dist="25400" dir="2700000" algn="bl" rotWithShape="0">
              <a:srgbClr val="000000">
                <a:alpha val="12000"/>
              </a:srgbClr>
            </a:outerShdw>
          </a:effectLst>
        </p:spPr>
      </p:sp>
      <p:sp>
        <p:nvSpPr>
          <p:cNvPr id="5" name="Text 3"/>
          <p:cNvSpPr/>
          <p:nvPr/>
        </p:nvSpPr>
        <p:spPr>
          <a:xfrm>
            <a:off x="548640" y="1005840"/>
            <a:ext cx="3749040" cy="365760"/>
          </a:xfrm>
          <a:prstGeom prst="rect">
            <a:avLst/>
          </a:prstGeom>
          <a:noFill/>
        </p:spPr>
        <p:txBody>
          <a:bodyPr wrap="square" rtlCol="0" anchor="ctr"/>
          <a:lstStyle/>
          <a:p>
            <a:pPr marL="0" indent="0">
              <a:buNone/>
            </a:pPr>
            <a:r>
              <a:rPr lang="en-US" sz="1500" b="1" dirty="0">
                <a:solidFill>
                  <a:srgbClr val="065A82"/>
                </a:solidFill>
                <a:latin typeface="Cambria" panose="02040503050406030204" pitchFamily="34" charset="0"/>
                <a:ea typeface="Cambria" panose="02040503050406030204" pitchFamily="34" charset="-122"/>
                <a:cs typeface="Cambria" panose="02040503050406030204" pitchFamily="34" charset="-120"/>
              </a:rPr>
              <a:t>Dataset Overview</a:t>
            </a:r>
            <a:endParaRPr lang="en-US" sz="1500" dirty="0"/>
          </a:p>
        </p:txBody>
      </p:sp>
      <p:sp>
        <p:nvSpPr>
          <p:cNvPr id="6" name="Text 4"/>
          <p:cNvSpPr/>
          <p:nvPr/>
        </p:nvSpPr>
        <p:spPr>
          <a:xfrm>
            <a:off x="640080" y="146304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Source:</a:t>
            </a:r>
            <a:endParaRPr lang="en-US" sz="1200" dirty="0"/>
          </a:p>
        </p:txBody>
      </p:sp>
      <p:sp>
        <p:nvSpPr>
          <p:cNvPr id="7" name="Text 5"/>
          <p:cNvSpPr/>
          <p:nvPr/>
        </p:nvSpPr>
        <p:spPr>
          <a:xfrm>
            <a:off x="2011680" y="146304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India AQI Different Cities (CSV)</a:t>
            </a:r>
            <a:endParaRPr lang="en-US" sz="1200" dirty="0"/>
          </a:p>
        </p:txBody>
      </p:sp>
      <p:sp>
        <p:nvSpPr>
          <p:cNvPr id="8" name="Text 6"/>
          <p:cNvSpPr/>
          <p:nvPr/>
        </p:nvSpPr>
        <p:spPr>
          <a:xfrm>
            <a:off x="640080" y="196596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Rows:</a:t>
            </a:r>
            <a:endParaRPr lang="en-US" sz="1200" dirty="0"/>
          </a:p>
        </p:txBody>
      </p:sp>
      <p:sp>
        <p:nvSpPr>
          <p:cNvPr id="9" name="Text 7"/>
          <p:cNvSpPr/>
          <p:nvPr/>
        </p:nvSpPr>
        <p:spPr>
          <a:xfrm>
            <a:off x="2011680" y="196596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10,000 daily records</a:t>
            </a:r>
            <a:endParaRPr lang="en-US" sz="1200" dirty="0"/>
          </a:p>
        </p:txBody>
      </p:sp>
      <p:sp>
        <p:nvSpPr>
          <p:cNvPr id="10" name="Text 8"/>
          <p:cNvSpPr/>
          <p:nvPr/>
        </p:nvSpPr>
        <p:spPr>
          <a:xfrm>
            <a:off x="640080" y="246888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Cities:</a:t>
            </a:r>
            <a:endParaRPr lang="en-US" sz="1200" dirty="0"/>
          </a:p>
        </p:txBody>
      </p:sp>
      <p:sp>
        <p:nvSpPr>
          <p:cNvPr id="11" name="Text 9"/>
          <p:cNvSpPr/>
          <p:nvPr/>
        </p:nvSpPr>
        <p:spPr>
          <a:xfrm>
            <a:off x="2011680" y="246888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12 cities across India</a:t>
            </a:r>
            <a:endParaRPr lang="en-US" sz="1200" dirty="0"/>
          </a:p>
        </p:txBody>
      </p:sp>
      <p:sp>
        <p:nvSpPr>
          <p:cNvPr id="12" name="Text 10"/>
          <p:cNvSpPr/>
          <p:nvPr/>
        </p:nvSpPr>
        <p:spPr>
          <a:xfrm>
            <a:off x="640080" y="297180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States:</a:t>
            </a:r>
            <a:endParaRPr lang="en-US" sz="1200" dirty="0"/>
          </a:p>
        </p:txBody>
      </p:sp>
      <p:sp>
        <p:nvSpPr>
          <p:cNvPr id="13" name="Text 11"/>
          <p:cNvSpPr/>
          <p:nvPr/>
        </p:nvSpPr>
        <p:spPr>
          <a:xfrm>
            <a:off x="2011680" y="297180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11 states covered</a:t>
            </a:r>
            <a:endParaRPr lang="en-US" sz="1200" dirty="0"/>
          </a:p>
        </p:txBody>
      </p:sp>
      <p:sp>
        <p:nvSpPr>
          <p:cNvPr id="14" name="Text 12"/>
          <p:cNvSpPr/>
          <p:nvPr/>
        </p:nvSpPr>
        <p:spPr>
          <a:xfrm>
            <a:off x="640080" y="347472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Period:</a:t>
            </a:r>
            <a:endParaRPr lang="en-US" sz="1200" dirty="0"/>
          </a:p>
        </p:txBody>
      </p:sp>
      <p:sp>
        <p:nvSpPr>
          <p:cNvPr id="15" name="Text 13"/>
          <p:cNvSpPr/>
          <p:nvPr/>
        </p:nvSpPr>
        <p:spPr>
          <a:xfrm>
            <a:off x="2011680" y="347472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January 2023 – December 2025</a:t>
            </a:r>
            <a:endParaRPr lang="en-US" sz="1200" dirty="0"/>
          </a:p>
        </p:txBody>
      </p:sp>
      <p:sp>
        <p:nvSpPr>
          <p:cNvPr id="16" name="Text 14"/>
          <p:cNvSpPr/>
          <p:nvPr/>
        </p:nvSpPr>
        <p:spPr>
          <a:xfrm>
            <a:off x="640080" y="3977640"/>
            <a:ext cx="1371600" cy="384048"/>
          </a:xfrm>
          <a:prstGeom prst="rect">
            <a:avLst/>
          </a:prstGeom>
          <a:noFill/>
        </p:spPr>
        <p:txBody>
          <a:bodyPr wrap="square" rtlCol="0" anchor="ctr"/>
          <a:lstStyle/>
          <a:p>
            <a:pPr marL="0" indent="0">
              <a:buNone/>
            </a:pPr>
            <a:r>
              <a:rPr lang="en-US" sz="1200" b="1" dirty="0">
                <a:solidFill>
                  <a:srgbClr val="1C7293"/>
                </a:solidFill>
                <a:latin typeface="Calibri" panose="020F0502020204030204" pitchFamily="34" charset="0"/>
                <a:ea typeface="Calibri" panose="020F0502020204030204" pitchFamily="34" charset="-122"/>
                <a:cs typeface="Calibri" panose="020F0502020204030204" pitchFamily="34" charset="-120"/>
              </a:rPr>
              <a:t>Missing Values:</a:t>
            </a:r>
            <a:endParaRPr lang="en-US" sz="1200" dirty="0"/>
          </a:p>
        </p:txBody>
      </p:sp>
      <p:sp>
        <p:nvSpPr>
          <p:cNvPr id="17" name="Text 15"/>
          <p:cNvSpPr/>
          <p:nvPr/>
        </p:nvSpPr>
        <p:spPr>
          <a:xfrm>
            <a:off x="2011680" y="3977640"/>
            <a:ext cx="228600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None (clean dataset)</a:t>
            </a:r>
            <a:endParaRPr lang="en-US" sz="1200" dirty="0"/>
          </a:p>
        </p:txBody>
      </p:sp>
      <p:sp>
        <p:nvSpPr>
          <p:cNvPr id="18" name="Shape 16"/>
          <p:cNvSpPr/>
          <p:nvPr/>
        </p:nvSpPr>
        <p:spPr>
          <a:xfrm>
            <a:off x="4663440" y="907415"/>
            <a:ext cx="4114800" cy="4023360"/>
          </a:xfrm>
          <a:prstGeom prst="roundRect">
            <a:avLst>
              <a:gd name="adj" fmla="val 2273"/>
            </a:avLst>
          </a:prstGeom>
          <a:solidFill>
            <a:srgbClr val="F0F9FB"/>
          </a:solidFill>
          <a:effectLst>
            <a:outerShdw blurRad="76200" dist="25400" dir="2700000" algn="bl" rotWithShape="0">
              <a:srgbClr val="000000">
                <a:alpha val="12000"/>
              </a:srgbClr>
            </a:outerShdw>
          </a:effectLst>
        </p:spPr>
      </p:sp>
      <p:sp>
        <p:nvSpPr>
          <p:cNvPr id="19" name="Text 17"/>
          <p:cNvSpPr/>
          <p:nvPr/>
        </p:nvSpPr>
        <p:spPr>
          <a:xfrm>
            <a:off x="4846320" y="1005840"/>
            <a:ext cx="3749040" cy="365760"/>
          </a:xfrm>
          <a:prstGeom prst="rect">
            <a:avLst/>
          </a:prstGeom>
          <a:noFill/>
        </p:spPr>
        <p:txBody>
          <a:bodyPr wrap="square" rtlCol="0" anchor="ctr"/>
          <a:lstStyle/>
          <a:p>
            <a:pPr marL="0" indent="0">
              <a:buNone/>
            </a:pPr>
            <a:r>
              <a:rPr lang="en-US" sz="1500" b="1" dirty="0">
                <a:solidFill>
                  <a:srgbClr val="065A82"/>
                </a:solidFill>
                <a:latin typeface="Cambria" panose="02040503050406030204" pitchFamily="34" charset="0"/>
                <a:ea typeface="Cambria" panose="02040503050406030204" pitchFamily="34" charset="-122"/>
                <a:cs typeface="Cambria" panose="02040503050406030204" pitchFamily="34" charset="-120"/>
              </a:rPr>
              <a:t>20 Columns</a:t>
            </a:r>
            <a:endParaRPr lang="en-US" sz="1500" dirty="0"/>
          </a:p>
        </p:txBody>
      </p:sp>
      <p:sp>
        <p:nvSpPr>
          <p:cNvPr id="20" name="Text 18"/>
          <p:cNvSpPr/>
          <p:nvPr/>
        </p:nvSpPr>
        <p:spPr>
          <a:xfrm>
            <a:off x="4800600" y="1463040"/>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Date</a:t>
            </a:r>
            <a:endParaRPr lang="en-US" sz="1050" dirty="0"/>
          </a:p>
        </p:txBody>
      </p:sp>
      <p:sp>
        <p:nvSpPr>
          <p:cNvPr id="21" name="Text 19"/>
          <p:cNvSpPr/>
          <p:nvPr/>
        </p:nvSpPr>
        <p:spPr>
          <a:xfrm>
            <a:off x="6812280" y="1463040"/>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City</a:t>
            </a:r>
            <a:endParaRPr lang="en-US" sz="1050" dirty="0"/>
          </a:p>
        </p:txBody>
      </p:sp>
      <p:sp>
        <p:nvSpPr>
          <p:cNvPr id="22" name="Text 20"/>
          <p:cNvSpPr/>
          <p:nvPr/>
        </p:nvSpPr>
        <p:spPr>
          <a:xfrm>
            <a:off x="4800600" y="1856232"/>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State</a:t>
            </a:r>
            <a:endParaRPr lang="en-US" sz="1050" dirty="0"/>
          </a:p>
        </p:txBody>
      </p:sp>
      <p:sp>
        <p:nvSpPr>
          <p:cNvPr id="23" name="Text 21"/>
          <p:cNvSpPr/>
          <p:nvPr/>
        </p:nvSpPr>
        <p:spPr>
          <a:xfrm>
            <a:off x="6812280" y="1856232"/>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AQI</a:t>
            </a:r>
            <a:endParaRPr lang="en-US" sz="1050" dirty="0"/>
          </a:p>
        </p:txBody>
      </p:sp>
      <p:sp>
        <p:nvSpPr>
          <p:cNvPr id="24" name="Text 22"/>
          <p:cNvSpPr/>
          <p:nvPr/>
        </p:nvSpPr>
        <p:spPr>
          <a:xfrm>
            <a:off x="4800600" y="2249424"/>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PM2_5</a:t>
            </a:r>
            <a:endParaRPr lang="en-US" sz="1050" dirty="0"/>
          </a:p>
        </p:txBody>
      </p:sp>
      <p:sp>
        <p:nvSpPr>
          <p:cNvPr id="25" name="Text 23"/>
          <p:cNvSpPr/>
          <p:nvPr/>
        </p:nvSpPr>
        <p:spPr>
          <a:xfrm>
            <a:off x="6812280" y="2249424"/>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PM10</a:t>
            </a:r>
            <a:endParaRPr lang="en-US" sz="1050" dirty="0"/>
          </a:p>
        </p:txBody>
      </p:sp>
      <p:sp>
        <p:nvSpPr>
          <p:cNvPr id="26" name="Text 24"/>
          <p:cNvSpPr/>
          <p:nvPr/>
        </p:nvSpPr>
        <p:spPr>
          <a:xfrm>
            <a:off x="4800600" y="2642616"/>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NO2</a:t>
            </a:r>
            <a:endParaRPr lang="en-US" sz="1050" dirty="0"/>
          </a:p>
        </p:txBody>
      </p:sp>
      <p:sp>
        <p:nvSpPr>
          <p:cNvPr id="27" name="Text 25"/>
          <p:cNvSpPr/>
          <p:nvPr/>
        </p:nvSpPr>
        <p:spPr>
          <a:xfrm>
            <a:off x="6812280" y="2642616"/>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SO2</a:t>
            </a:r>
            <a:endParaRPr lang="en-US" sz="1050" dirty="0"/>
          </a:p>
        </p:txBody>
      </p:sp>
      <p:sp>
        <p:nvSpPr>
          <p:cNvPr id="28" name="Text 26"/>
          <p:cNvSpPr/>
          <p:nvPr/>
        </p:nvSpPr>
        <p:spPr>
          <a:xfrm>
            <a:off x="4800600" y="3035808"/>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CO</a:t>
            </a:r>
            <a:endParaRPr lang="en-US" sz="1050" dirty="0"/>
          </a:p>
        </p:txBody>
      </p:sp>
      <p:sp>
        <p:nvSpPr>
          <p:cNvPr id="29" name="Text 27"/>
          <p:cNvSpPr/>
          <p:nvPr/>
        </p:nvSpPr>
        <p:spPr>
          <a:xfrm>
            <a:off x="6812280" y="3035808"/>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O3</a:t>
            </a:r>
            <a:endParaRPr lang="en-US" sz="1050" dirty="0"/>
          </a:p>
        </p:txBody>
      </p:sp>
      <p:sp>
        <p:nvSpPr>
          <p:cNvPr id="30" name="Text 28"/>
          <p:cNvSpPr/>
          <p:nvPr/>
        </p:nvSpPr>
        <p:spPr>
          <a:xfrm>
            <a:off x="4800600" y="3429000"/>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Temperature</a:t>
            </a:r>
            <a:endParaRPr lang="en-US" sz="1050" dirty="0"/>
          </a:p>
        </p:txBody>
      </p:sp>
      <p:sp>
        <p:nvSpPr>
          <p:cNvPr id="31" name="Text 29"/>
          <p:cNvSpPr/>
          <p:nvPr/>
        </p:nvSpPr>
        <p:spPr>
          <a:xfrm>
            <a:off x="6812280" y="3429000"/>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Humidity</a:t>
            </a:r>
            <a:endParaRPr lang="en-US" sz="1050" dirty="0"/>
          </a:p>
        </p:txBody>
      </p:sp>
      <p:sp>
        <p:nvSpPr>
          <p:cNvPr id="32" name="Text 30"/>
          <p:cNvSpPr/>
          <p:nvPr/>
        </p:nvSpPr>
        <p:spPr>
          <a:xfrm>
            <a:off x="4800600" y="3822192"/>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Wind</a:t>
            </a:r>
            <a:endParaRPr lang="en-US" sz="1050" dirty="0"/>
          </a:p>
        </p:txBody>
      </p:sp>
      <p:sp>
        <p:nvSpPr>
          <p:cNvPr id="33" name="Text 31"/>
          <p:cNvSpPr/>
          <p:nvPr/>
        </p:nvSpPr>
        <p:spPr>
          <a:xfrm>
            <a:off x="6812280" y="3822192"/>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Rainfall</a:t>
            </a:r>
            <a:endParaRPr lang="en-US" sz="1050" dirty="0"/>
          </a:p>
        </p:txBody>
      </p:sp>
      <p:sp>
        <p:nvSpPr>
          <p:cNvPr id="34" name="Text 32"/>
          <p:cNvSpPr/>
          <p:nvPr/>
        </p:nvSpPr>
        <p:spPr>
          <a:xfrm>
            <a:off x="4800600" y="4188460"/>
            <a:ext cx="1920240" cy="28067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Traffic Index</a:t>
            </a:r>
            <a:endParaRPr lang="en-US" sz="1050" dirty="0"/>
          </a:p>
        </p:txBody>
      </p:sp>
      <p:sp>
        <p:nvSpPr>
          <p:cNvPr id="35" name="Text 33"/>
          <p:cNvSpPr/>
          <p:nvPr/>
        </p:nvSpPr>
        <p:spPr>
          <a:xfrm>
            <a:off x="6812280" y="4215384"/>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Industrial Index</a:t>
            </a:r>
            <a:endParaRPr lang="en-US" sz="1050" dirty="0"/>
          </a:p>
        </p:txBody>
      </p:sp>
      <p:sp>
        <p:nvSpPr>
          <p:cNvPr id="36" name="Text 34"/>
          <p:cNvSpPr/>
          <p:nvPr/>
        </p:nvSpPr>
        <p:spPr>
          <a:xfrm>
            <a:off x="4800600" y="4487545"/>
            <a:ext cx="1920240" cy="263525"/>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Population Density</a:t>
            </a:r>
            <a:endParaRPr lang="en-US" sz="1050" dirty="0"/>
          </a:p>
        </p:txBody>
      </p:sp>
      <p:sp>
        <p:nvSpPr>
          <p:cNvPr id="37" name="Text 35"/>
          <p:cNvSpPr/>
          <p:nvPr/>
        </p:nvSpPr>
        <p:spPr>
          <a:xfrm>
            <a:off x="6812280" y="4608576"/>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Season</a:t>
            </a:r>
            <a:endParaRPr lang="en-US" sz="1050" dirty="0"/>
          </a:p>
        </p:txBody>
      </p:sp>
      <p:sp>
        <p:nvSpPr>
          <p:cNvPr id="38" name="Text 36"/>
          <p:cNvSpPr/>
          <p:nvPr/>
        </p:nvSpPr>
        <p:spPr>
          <a:xfrm>
            <a:off x="4800600" y="4773295"/>
            <a:ext cx="1920240" cy="199390"/>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AQI Category</a:t>
            </a:r>
            <a:endParaRPr lang="en-US" sz="1050" dirty="0"/>
          </a:p>
        </p:txBody>
      </p:sp>
      <p:sp>
        <p:nvSpPr>
          <p:cNvPr id="39" name="Text 37"/>
          <p:cNvSpPr/>
          <p:nvPr/>
        </p:nvSpPr>
        <p:spPr>
          <a:xfrm>
            <a:off x="6812280" y="5001768"/>
            <a:ext cx="1920240" cy="347472"/>
          </a:xfrm>
          <a:prstGeom prst="rect">
            <a:avLst/>
          </a:prstGeom>
          <a:noFill/>
        </p:spPr>
        <p:txBody>
          <a:bodyPr wrap="square" rtlCol="0" anchor="ctr"/>
          <a:lstStyle/>
          <a:p>
            <a:pPr marL="0" indent="0">
              <a:buNone/>
            </a:pPr>
            <a:r>
              <a:rPr lang="en-US" sz="1050" dirty="0">
                <a:solidFill>
                  <a:srgbClr val="1E293B"/>
                </a:solidFill>
                <a:latin typeface="Calibri" panose="020F0502020204030204" pitchFamily="34" charset="0"/>
                <a:ea typeface="Calibri" panose="020F0502020204030204" pitchFamily="34" charset="-122"/>
                <a:cs typeface="Calibri" panose="020F0502020204030204" pitchFamily="34" charset="-120"/>
              </a:rPr>
              <a:t>🏥 Health Advisory</a:t>
            </a:r>
            <a:endParaRPr lang="en-US" sz="1050" dirty="0"/>
          </a:p>
        </p:txBody>
      </p:sp>
      <p:sp>
        <p:nvSpPr>
          <p:cNvPr id="40" name="Shape 38"/>
          <p:cNvSpPr/>
          <p:nvPr/>
        </p:nvSpPr>
        <p:spPr>
          <a:xfrm>
            <a:off x="0" y="5070348"/>
            <a:ext cx="9144000" cy="73152"/>
          </a:xfrm>
          <a:prstGeom prst="rect">
            <a:avLst/>
          </a:prstGeom>
          <a:solidFill>
            <a:srgbClr val="1C7293"/>
          </a:solidFill>
          <a:ln w="12700">
            <a:solidFill>
              <a:srgbClr val="1C7293"/>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Data Cleaning &amp; Preparation</a:t>
            </a:r>
            <a:endParaRPr lang="en-US" sz="3000" dirty="0"/>
          </a:p>
        </p:txBody>
      </p:sp>
      <p:sp>
        <p:nvSpPr>
          <p:cNvPr id="4" name="Shape 2"/>
          <p:cNvSpPr/>
          <p:nvPr/>
        </p:nvSpPr>
        <p:spPr>
          <a:xfrm>
            <a:off x="320040" y="960120"/>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5" name="Shape 3"/>
          <p:cNvSpPr/>
          <p:nvPr/>
        </p:nvSpPr>
        <p:spPr>
          <a:xfrm>
            <a:off x="429768" y="1234440"/>
            <a:ext cx="475488" cy="475488"/>
          </a:xfrm>
          <a:prstGeom prst="ellipse">
            <a:avLst/>
          </a:prstGeom>
          <a:solidFill>
            <a:srgbClr val="065A82"/>
          </a:solidFill>
          <a:ln w="12700">
            <a:solidFill>
              <a:srgbClr val="065A82"/>
            </a:solidFill>
            <a:prstDash val="solid"/>
          </a:ln>
        </p:spPr>
      </p:sp>
      <p:sp>
        <p:nvSpPr>
          <p:cNvPr id="6" name="Text 4"/>
          <p:cNvSpPr/>
          <p:nvPr/>
        </p:nvSpPr>
        <p:spPr>
          <a:xfrm>
            <a:off x="429768" y="1234440"/>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01</a:t>
            </a:r>
            <a:endParaRPr lang="en-US" sz="1100" dirty="0"/>
          </a:p>
        </p:txBody>
      </p:sp>
      <p:sp>
        <p:nvSpPr>
          <p:cNvPr id="7" name="Text 5"/>
          <p:cNvSpPr/>
          <p:nvPr/>
        </p:nvSpPr>
        <p:spPr>
          <a:xfrm>
            <a:off x="1005840" y="105156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Imported CSV</a:t>
            </a:r>
            <a:endParaRPr lang="en-US" sz="1300" dirty="0"/>
          </a:p>
        </p:txBody>
      </p:sp>
      <p:sp>
        <p:nvSpPr>
          <p:cNvPr id="8" name="Text 6"/>
          <p:cNvSpPr/>
          <p:nvPr/>
        </p:nvSpPr>
        <p:spPr>
          <a:xfrm>
            <a:off x="1005840" y="1417320"/>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Loaded India_AQI_Different_Cities.csv into Power BI Desktop via Get Data → Text/CSV.</a:t>
            </a:r>
            <a:endParaRPr lang="en-US" sz="1100" dirty="0"/>
          </a:p>
        </p:txBody>
      </p:sp>
      <p:sp>
        <p:nvSpPr>
          <p:cNvPr id="9" name="Shape 7"/>
          <p:cNvSpPr/>
          <p:nvPr/>
        </p:nvSpPr>
        <p:spPr>
          <a:xfrm>
            <a:off x="4846320" y="960120"/>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10" name="Shape 8"/>
          <p:cNvSpPr/>
          <p:nvPr/>
        </p:nvSpPr>
        <p:spPr>
          <a:xfrm>
            <a:off x="4956048" y="1234440"/>
            <a:ext cx="475488" cy="475488"/>
          </a:xfrm>
          <a:prstGeom prst="ellipse">
            <a:avLst/>
          </a:prstGeom>
          <a:solidFill>
            <a:srgbClr val="065A82"/>
          </a:solidFill>
          <a:ln w="12700">
            <a:solidFill>
              <a:srgbClr val="065A82"/>
            </a:solidFill>
            <a:prstDash val="solid"/>
          </a:ln>
        </p:spPr>
      </p:sp>
      <p:sp>
        <p:nvSpPr>
          <p:cNvPr id="11" name="Text 9"/>
          <p:cNvSpPr/>
          <p:nvPr/>
        </p:nvSpPr>
        <p:spPr>
          <a:xfrm>
            <a:off x="4956048" y="1234440"/>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02</a:t>
            </a:r>
            <a:endParaRPr lang="en-US" sz="1100" dirty="0"/>
          </a:p>
        </p:txBody>
      </p:sp>
      <p:sp>
        <p:nvSpPr>
          <p:cNvPr id="12" name="Text 10"/>
          <p:cNvSpPr/>
          <p:nvPr/>
        </p:nvSpPr>
        <p:spPr>
          <a:xfrm>
            <a:off x="5532120" y="105156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Fixed Data Types</a:t>
            </a:r>
            <a:endParaRPr lang="en-US" sz="1300" dirty="0"/>
          </a:p>
        </p:txBody>
      </p:sp>
      <p:sp>
        <p:nvSpPr>
          <p:cNvPr id="13" name="Text 11"/>
          <p:cNvSpPr/>
          <p:nvPr/>
        </p:nvSpPr>
        <p:spPr>
          <a:xfrm>
            <a:off x="5532120" y="1417320"/>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Changed Date column to Date type. Ensured all numeric columns (AQI, PM2_5, PM10 etc.) were set to Decimal or Whole Number.</a:t>
            </a:r>
            <a:endParaRPr lang="en-US" sz="1100" dirty="0"/>
          </a:p>
        </p:txBody>
      </p:sp>
      <p:sp>
        <p:nvSpPr>
          <p:cNvPr id="14" name="Shape 12"/>
          <p:cNvSpPr/>
          <p:nvPr/>
        </p:nvSpPr>
        <p:spPr>
          <a:xfrm>
            <a:off x="320040" y="2313432"/>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15" name="Shape 13"/>
          <p:cNvSpPr/>
          <p:nvPr/>
        </p:nvSpPr>
        <p:spPr>
          <a:xfrm>
            <a:off x="429768" y="2587752"/>
            <a:ext cx="475488" cy="475488"/>
          </a:xfrm>
          <a:prstGeom prst="ellipse">
            <a:avLst/>
          </a:prstGeom>
          <a:solidFill>
            <a:srgbClr val="065A82"/>
          </a:solidFill>
          <a:ln w="12700">
            <a:solidFill>
              <a:srgbClr val="065A82"/>
            </a:solidFill>
            <a:prstDash val="solid"/>
          </a:ln>
        </p:spPr>
      </p:sp>
      <p:sp>
        <p:nvSpPr>
          <p:cNvPr id="16" name="Text 14"/>
          <p:cNvSpPr/>
          <p:nvPr/>
        </p:nvSpPr>
        <p:spPr>
          <a:xfrm>
            <a:off x="429768" y="2587752"/>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03</a:t>
            </a:r>
            <a:endParaRPr lang="en-US" sz="1100" dirty="0"/>
          </a:p>
        </p:txBody>
      </p:sp>
      <p:sp>
        <p:nvSpPr>
          <p:cNvPr id="17" name="Text 15"/>
          <p:cNvSpPr/>
          <p:nvPr/>
        </p:nvSpPr>
        <p:spPr>
          <a:xfrm>
            <a:off x="1005840" y="2404872"/>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Added Date Columns</a:t>
            </a:r>
            <a:endParaRPr lang="en-US" sz="1300" dirty="0"/>
          </a:p>
        </p:txBody>
      </p:sp>
      <p:sp>
        <p:nvSpPr>
          <p:cNvPr id="18" name="Text 16"/>
          <p:cNvSpPr/>
          <p:nvPr/>
        </p:nvSpPr>
        <p:spPr>
          <a:xfrm>
            <a:off x="1005840" y="2770632"/>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Extracted Year, MonthName, and DayName from Date using Add Column → Date menu in Power Query.</a:t>
            </a:r>
            <a:endParaRPr lang="en-US" sz="1100" dirty="0"/>
          </a:p>
        </p:txBody>
      </p:sp>
      <p:sp>
        <p:nvSpPr>
          <p:cNvPr id="19" name="Shape 17"/>
          <p:cNvSpPr/>
          <p:nvPr/>
        </p:nvSpPr>
        <p:spPr>
          <a:xfrm>
            <a:off x="4846320" y="2313432"/>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20" name="Shape 18"/>
          <p:cNvSpPr/>
          <p:nvPr/>
        </p:nvSpPr>
        <p:spPr>
          <a:xfrm>
            <a:off x="4956048" y="2587752"/>
            <a:ext cx="475488" cy="475488"/>
          </a:xfrm>
          <a:prstGeom prst="ellipse">
            <a:avLst/>
          </a:prstGeom>
          <a:solidFill>
            <a:srgbClr val="065A82"/>
          </a:solidFill>
          <a:ln w="12700">
            <a:solidFill>
              <a:srgbClr val="065A82"/>
            </a:solidFill>
            <a:prstDash val="solid"/>
          </a:ln>
        </p:spPr>
      </p:sp>
      <p:sp>
        <p:nvSpPr>
          <p:cNvPr id="21" name="Text 19"/>
          <p:cNvSpPr/>
          <p:nvPr/>
        </p:nvSpPr>
        <p:spPr>
          <a:xfrm>
            <a:off x="4956048" y="2587752"/>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04</a:t>
            </a:r>
            <a:endParaRPr lang="en-US" sz="1100" dirty="0"/>
          </a:p>
        </p:txBody>
      </p:sp>
      <p:sp>
        <p:nvSpPr>
          <p:cNvPr id="22" name="Text 20"/>
          <p:cNvSpPr/>
          <p:nvPr/>
        </p:nvSpPr>
        <p:spPr>
          <a:xfrm>
            <a:off x="5532120" y="2404872"/>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IsWeekend Column</a:t>
            </a:r>
            <a:endParaRPr lang="en-US" sz="1300" dirty="0"/>
          </a:p>
        </p:txBody>
      </p:sp>
      <p:sp>
        <p:nvSpPr>
          <p:cNvPr id="23" name="Text 21"/>
          <p:cNvSpPr/>
          <p:nvPr/>
        </p:nvSpPr>
        <p:spPr>
          <a:xfrm>
            <a:off x="5532120" y="2770632"/>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Created a custom column: if DayName = Saturday or Sunday then Weekend else Weekday.</a:t>
            </a:r>
            <a:endParaRPr lang="en-US" sz="1100" dirty="0"/>
          </a:p>
        </p:txBody>
      </p:sp>
      <p:sp>
        <p:nvSpPr>
          <p:cNvPr id="24" name="Shape 22"/>
          <p:cNvSpPr/>
          <p:nvPr/>
        </p:nvSpPr>
        <p:spPr>
          <a:xfrm>
            <a:off x="320040" y="3666744"/>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25" name="Shape 23"/>
          <p:cNvSpPr/>
          <p:nvPr/>
        </p:nvSpPr>
        <p:spPr>
          <a:xfrm>
            <a:off x="429768" y="3941064"/>
            <a:ext cx="475488" cy="475488"/>
          </a:xfrm>
          <a:prstGeom prst="ellipse">
            <a:avLst/>
          </a:prstGeom>
          <a:solidFill>
            <a:srgbClr val="065A82"/>
          </a:solidFill>
          <a:ln w="12700">
            <a:solidFill>
              <a:srgbClr val="065A82"/>
            </a:solidFill>
            <a:prstDash val="solid"/>
          </a:ln>
        </p:spPr>
      </p:sp>
      <p:sp>
        <p:nvSpPr>
          <p:cNvPr id="26" name="Text 24"/>
          <p:cNvSpPr/>
          <p:nvPr/>
        </p:nvSpPr>
        <p:spPr>
          <a:xfrm>
            <a:off x="429768" y="3941064"/>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05</a:t>
            </a:r>
            <a:endParaRPr lang="en-US" sz="1100" dirty="0"/>
          </a:p>
        </p:txBody>
      </p:sp>
      <p:sp>
        <p:nvSpPr>
          <p:cNvPr id="27" name="Text 25"/>
          <p:cNvSpPr/>
          <p:nvPr/>
        </p:nvSpPr>
        <p:spPr>
          <a:xfrm>
            <a:off x="1005840" y="3758184"/>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Date Table</a:t>
            </a:r>
            <a:endParaRPr lang="en-US" sz="1300" dirty="0"/>
          </a:p>
        </p:txBody>
      </p:sp>
      <p:sp>
        <p:nvSpPr>
          <p:cNvPr id="28" name="Text 26"/>
          <p:cNvSpPr/>
          <p:nvPr/>
        </p:nvSpPr>
        <p:spPr>
          <a:xfrm>
            <a:off x="1005840" y="4123944"/>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Created a DateTable using CALENDAR DAX formula and marked it as a Date Table. Built a relationship with AQI_Data[Date].</a:t>
            </a:r>
            <a:endParaRPr lang="en-US" sz="1100" dirty="0"/>
          </a:p>
        </p:txBody>
      </p:sp>
      <p:sp>
        <p:nvSpPr>
          <p:cNvPr id="29" name="Shape 27"/>
          <p:cNvSpPr/>
          <p:nvPr/>
        </p:nvSpPr>
        <p:spPr>
          <a:xfrm>
            <a:off x="4846320" y="3666744"/>
            <a:ext cx="4206240" cy="1234440"/>
          </a:xfrm>
          <a:prstGeom prst="roundRect">
            <a:avLst>
              <a:gd name="adj" fmla="val 7407"/>
            </a:avLst>
          </a:prstGeom>
          <a:solidFill>
            <a:srgbClr val="F0F9FB"/>
          </a:solidFill>
          <a:effectLst>
            <a:outerShdw blurRad="76200" dist="25400" dir="2700000" algn="bl" rotWithShape="0">
              <a:srgbClr val="000000">
                <a:alpha val="12000"/>
              </a:srgbClr>
            </a:outerShdw>
          </a:effectLst>
        </p:spPr>
      </p:sp>
      <p:sp>
        <p:nvSpPr>
          <p:cNvPr id="30" name="Shape 28"/>
          <p:cNvSpPr/>
          <p:nvPr/>
        </p:nvSpPr>
        <p:spPr>
          <a:xfrm>
            <a:off x="4956048" y="3941064"/>
            <a:ext cx="475488" cy="475488"/>
          </a:xfrm>
          <a:prstGeom prst="ellipse">
            <a:avLst/>
          </a:prstGeom>
          <a:solidFill>
            <a:srgbClr val="065A82"/>
          </a:solidFill>
          <a:ln w="12700">
            <a:solidFill>
              <a:srgbClr val="065A82"/>
            </a:solidFill>
            <a:prstDash val="solid"/>
          </a:ln>
        </p:spPr>
      </p:sp>
      <p:sp>
        <p:nvSpPr>
          <p:cNvPr id="31" name="Text 29"/>
          <p:cNvSpPr/>
          <p:nvPr/>
        </p:nvSpPr>
        <p:spPr>
          <a:xfrm>
            <a:off x="4956048" y="3941064"/>
            <a:ext cx="475488" cy="475488"/>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06</a:t>
            </a:r>
            <a:endParaRPr lang="en-US" sz="1100" dirty="0"/>
          </a:p>
        </p:txBody>
      </p:sp>
      <p:sp>
        <p:nvSpPr>
          <p:cNvPr id="32" name="Text 30"/>
          <p:cNvSpPr/>
          <p:nvPr/>
        </p:nvSpPr>
        <p:spPr>
          <a:xfrm>
            <a:off x="5532120" y="3758184"/>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Pollutants Table</a:t>
            </a:r>
            <a:endParaRPr lang="en-US" sz="1300" dirty="0"/>
          </a:p>
        </p:txBody>
      </p:sp>
      <p:sp>
        <p:nvSpPr>
          <p:cNvPr id="33" name="Text 31"/>
          <p:cNvSpPr/>
          <p:nvPr/>
        </p:nvSpPr>
        <p:spPr>
          <a:xfrm>
            <a:off x="5532120" y="4123944"/>
            <a:ext cx="3383280" cy="685800"/>
          </a:xfrm>
          <a:prstGeom prst="rect">
            <a:avLst/>
          </a:prstGeom>
          <a:noFill/>
        </p:spPr>
        <p:txBody>
          <a:bodyPr wrap="square" rtlCol="0" anchor="ctr"/>
          <a:lstStyle/>
          <a:p>
            <a:pPr marL="0" indent="0">
              <a:buNone/>
            </a:pP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Created Pollutants_Unpivoted by referencing AQI_Data and unpivoting PM2_5, PM10, NO2, SO2, CO, O3 columns into Pollutant_Name and Pollutant_Value rows.</a:t>
            </a:r>
            <a:endParaRPr lang="en-US" sz="1100" dirty="0"/>
          </a:p>
        </p:txBody>
      </p:sp>
      <p:sp>
        <p:nvSpPr>
          <p:cNvPr id="34" name="Shape 32"/>
          <p:cNvSpPr/>
          <p:nvPr/>
        </p:nvSpPr>
        <p:spPr>
          <a:xfrm>
            <a:off x="0" y="5070348"/>
            <a:ext cx="9144000" cy="73152"/>
          </a:xfrm>
          <a:prstGeom prst="rect">
            <a:avLst/>
          </a:prstGeom>
          <a:solidFill>
            <a:srgbClr val="065A82"/>
          </a:solidFill>
          <a:ln w="12700">
            <a:solidFill>
              <a:srgbClr val="065A82"/>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Dashboard Structure — </a:t>
            </a:r>
            <a:r>
              <a:rPr lang="en-IN" alt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9</a:t>
            </a:r>
            <a:r>
              <a:rPr 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 Pages</a:t>
            </a:r>
            <a:endParaRPr lang="en-US" sz="3000" dirty="0"/>
          </a:p>
        </p:txBody>
      </p:sp>
      <p:sp>
        <p:nvSpPr>
          <p:cNvPr id="4" name="Shape 2"/>
          <p:cNvSpPr/>
          <p:nvPr/>
        </p:nvSpPr>
        <p:spPr>
          <a:xfrm>
            <a:off x="320040" y="960120"/>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5" name="Shape 3"/>
          <p:cNvSpPr/>
          <p:nvPr/>
        </p:nvSpPr>
        <p:spPr>
          <a:xfrm>
            <a:off x="320040" y="960120"/>
            <a:ext cx="475488" cy="914400"/>
          </a:xfrm>
          <a:prstGeom prst="roundRect">
            <a:avLst>
              <a:gd name="adj" fmla="val 19231"/>
            </a:avLst>
          </a:prstGeom>
          <a:solidFill>
            <a:srgbClr val="065A82"/>
          </a:solidFill>
          <a:ln w="12700">
            <a:solidFill>
              <a:srgbClr val="065A82"/>
            </a:solidFill>
            <a:prstDash val="solid"/>
          </a:ln>
        </p:spPr>
        <p:txBody>
          <a:bodyPr/>
          <a:p>
            <a:endParaRPr lang="en-US"/>
          </a:p>
        </p:txBody>
      </p:sp>
      <p:sp>
        <p:nvSpPr>
          <p:cNvPr id="6" name="Text 4"/>
          <p:cNvSpPr/>
          <p:nvPr/>
        </p:nvSpPr>
        <p:spPr>
          <a:xfrm>
            <a:off x="320040" y="960120"/>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1</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7" name="Text 5"/>
          <p:cNvSpPr/>
          <p:nvPr/>
        </p:nvSpPr>
        <p:spPr>
          <a:xfrm>
            <a:off x="886968" y="1024128"/>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Overview – Summary</a:t>
            </a:r>
            <a:endParaRPr lang="en-US" sz="1300" dirty="0"/>
          </a:p>
        </p:txBody>
      </p:sp>
      <p:sp>
        <p:nvSpPr>
          <p:cNvPr id="8" name="Text 6"/>
          <p:cNvSpPr/>
          <p:nvPr/>
        </p:nvSpPr>
        <p:spPr>
          <a:xfrm>
            <a:off x="886968" y="1371600"/>
            <a:ext cx="3520440" cy="438912"/>
          </a:xfrm>
          <a:prstGeom prst="rect">
            <a:avLst/>
          </a:prstGeom>
          <a:noFill/>
        </p:spPr>
        <p:txBody>
          <a:bodyPr wrap="square" rtlCol="0" anchor="ctr"/>
          <a:lstStyle/>
          <a:p>
            <a:pPr marL="0" indent="0">
              <a:buNone/>
            </a:pP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Slicers, </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KPI cards</a:t>
            </a:r>
            <a:endParaRPr lang="en-US" sz="1050" dirty="0"/>
          </a:p>
        </p:txBody>
      </p:sp>
      <p:sp>
        <p:nvSpPr>
          <p:cNvPr id="9" name="Shape 7"/>
          <p:cNvSpPr/>
          <p:nvPr/>
        </p:nvSpPr>
        <p:spPr>
          <a:xfrm>
            <a:off x="4846320" y="960120"/>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10" name="Shape 8"/>
          <p:cNvSpPr/>
          <p:nvPr/>
        </p:nvSpPr>
        <p:spPr>
          <a:xfrm>
            <a:off x="4846320" y="960120"/>
            <a:ext cx="475488" cy="914400"/>
          </a:xfrm>
          <a:prstGeom prst="roundRect">
            <a:avLst>
              <a:gd name="adj" fmla="val 19231"/>
            </a:avLst>
          </a:prstGeom>
          <a:solidFill>
            <a:srgbClr val="6D2E46"/>
          </a:solidFill>
          <a:ln w="12700">
            <a:solidFill>
              <a:srgbClr val="6D2E46"/>
            </a:solidFill>
            <a:prstDash val="solid"/>
          </a:ln>
        </p:spPr>
      </p:sp>
      <p:sp>
        <p:nvSpPr>
          <p:cNvPr id="11" name="Text 9"/>
          <p:cNvSpPr/>
          <p:nvPr/>
        </p:nvSpPr>
        <p:spPr>
          <a:xfrm>
            <a:off x="4846320" y="960120"/>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P2</a:t>
            </a:r>
            <a:endParaRPr lang="en-US" sz="1100" dirty="0"/>
          </a:p>
        </p:txBody>
      </p:sp>
      <p:sp>
        <p:nvSpPr>
          <p:cNvPr id="12" name="Text 10"/>
          <p:cNvSpPr/>
          <p:nvPr/>
        </p:nvSpPr>
        <p:spPr>
          <a:xfrm>
            <a:off x="5413248" y="1024128"/>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Overview – </a:t>
            </a:r>
            <a:r>
              <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2</a:t>
            </a:r>
            <a:endPar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endParaRPr>
          </a:p>
        </p:txBody>
      </p:sp>
      <p:sp>
        <p:nvSpPr>
          <p:cNvPr id="13" name="Text 11"/>
          <p:cNvSpPr/>
          <p:nvPr/>
        </p:nvSpPr>
        <p:spPr>
          <a:xfrm>
            <a:off x="5413248" y="1371600"/>
            <a:ext cx="3520440" cy="438912"/>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Health advisory distribution, severe days count, </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AQI</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trend over time</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,Monthly AQI Category Distribution</a:t>
            </a:r>
            <a:endPar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320040" y="1984248"/>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15" name="Shape 13"/>
          <p:cNvSpPr/>
          <p:nvPr/>
        </p:nvSpPr>
        <p:spPr>
          <a:xfrm>
            <a:off x="320040" y="1984248"/>
            <a:ext cx="475488" cy="914400"/>
          </a:xfrm>
          <a:prstGeom prst="roundRect">
            <a:avLst>
              <a:gd name="adj" fmla="val 19231"/>
            </a:avLst>
          </a:prstGeom>
          <a:solidFill>
            <a:srgbClr val="1C7293"/>
          </a:solidFill>
          <a:ln w="12700">
            <a:solidFill>
              <a:srgbClr val="1C7293"/>
            </a:solidFill>
            <a:prstDash val="solid"/>
          </a:ln>
        </p:spPr>
      </p:sp>
      <p:sp>
        <p:nvSpPr>
          <p:cNvPr id="16" name="Text 14"/>
          <p:cNvSpPr/>
          <p:nvPr/>
        </p:nvSpPr>
        <p:spPr>
          <a:xfrm>
            <a:off x="320040" y="1984248"/>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P3</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-P4</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17" name="Text 15"/>
          <p:cNvSpPr/>
          <p:nvPr/>
        </p:nvSpPr>
        <p:spPr>
          <a:xfrm>
            <a:off x="886968" y="2048256"/>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City Comparison</a:t>
            </a:r>
            <a:r>
              <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 and Ranking</a:t>
            </a:r>
            <a:endPar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endParaRPr>
          </a:p>
        </p:txBody>
      </p:sp>
      <p:sp>
        <p:nvSpPr>
          <p:cNvPr id="18" name="Text 16"/>
          <p:cNvSpPr/>
          <p:nvPr/>
        </p:nvSpPr>
        <p:spPr>
          <a:xfrm>
            <a:off x="886968" y="2395728"/>
            <a:ext cx="3520440" cy="438912"/>
          </a:xfrm>
          <a:prstGeom prst="rect">
            <a:avLst/>
          </a:prstGeom>
          <a:noFill/>
        </p:spPr>
        <p:txBody>
          <a:bodyPr wrap="square" rtlCol="0" anchor="ctr"/>
          <a:lstStyle/>
          <a:p>
            <a:pPr marL="0" indent="0">
              <a:buNone/>
            </a:pP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vg AQI </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by City over Time</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top 5 polluted &amp; cleanest cities</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sym typeface="+mn-ea"/>
              </a:rPr>
              <a:t>City ranking table</a:t>
            </a:r>
            <a:endPar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4846320" y="1984248"/>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20" name="Shape 18"/>
          <p:cNvSpPr/>
          <p:nvPr/>
        </p:nvSpPr>
        <p:spPr>
          <a:xfrm>
            <a:off x="4846320" y="1984248"/>
            <a:ext cx="475488" cy="914400"/>
          </a:xfrm>
          <a:prstGeom prst="roundRect">
            <a:avLst>
              <a:gd name="adj" fmla="val 19231"/>
            </a:avLst>
          </a:prstGeom>
          <a:solidFill>
            <a:srgbClr val="028090"/>
          </a:solidFill>
          <a:ln w="12700">
            <a:solidFill>
              <a:srgbClr val="028090"/>
            </a:solidFill>
            <a:prstDash val="solid"/>
          </a:ln>
        </p:spPr>
      </p:sp>
      <p:sp>
        <p:nvSpPr>
          <p:cNvPr id="21" name="Text 19"/>
          <p:cNvSpPr/>
          <p:nvPr/>
        </p:nvSpPr>
        <p:spPr>
          <a:xfrm>
            <a:off x="4846320" y="1984248"/>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5</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2" name="Text 20"/>
          <p:cNvSpPr/>
          <p:nvPr/>
        </p:nvSpPr>
        <p:spPr>
          <a:xfrm>
            <a:off x="5413248" y="2048256"/>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State Analysis</a:t>
            </a:r>
            <a:endParaRPr lang="en-US" sz="1300" dirty="0"/>
          </a:p>
        </p:txBody>
      </p:sp>
      <p:sp>
        <p:nvSpPr>
          <p:cNvPr id="23" name="Text 21"/>
          <p:cNvSpPr/>
          <p:nvPr/>
        </p:nvSpPr>
        <p:spPr>
          <a:xfrm>
            <a:off x="5413248" y="2395728"/>
            <a:ext cx="3520440" cy="438912"/>
          </a:xfrm>
          <a:prstGeom prst="rect">
            <a:avLst/>
          </a:prstGeom>
          <a:noFill/>
        </p:spPr>
        <p:txBody>
          <a:bodyPr wrap="square" rtlCol="0" anchor="ctr"/>
          <a:lstStyle/>
          <a:p>
            <a:pPr marL="0" indent="0">
              <a:buNone/>
            </a:pP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Top 5 Polluted States</a:t>
            </a: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bar chart, treemap of states by AQI</a:t>
            </a:r>
            <a:endParaRPr lang="en-US" sz="1050" dirty="0"/>
          </a:p>
        </p:txBody>
      </p:sp>
      <p:sp>
        <p:nvSpPr>
          <p:cNvPr id="24" name="Shape 22"/>
          <p:cNvSpPr/>
          <p:nvPr/>
        </p:nvSpPr>
        <p:spPr>
          <a:xfrm>
            <a:off x="320040" y="3008376"/>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25" name="Shape 23"/>
          <p:cNvSpPr/>
          <p:nvPr/>
        </p:nvSpPr>
        <p:spPr>
          <a:xfrm>
            <a:off x="320040" y="3008376"/>
            <a:ext cx="475488" cy="914400"/>
          </a:xfrm>
          <a:prstGeom prst="roundRect">
            <a:avLst>
              <a:gd name="adj" fmla="val 19231"/>
            </a:avLst>
          </a:prstGeom>
          <a:solidFill>
            <a:srgbClr val="B85042"/>
          </a:solidFill>
          <a:ln w="12700">
            <a:solidFill>
              <a:srgbClr val="B85042"/>
            </a:solidFill>
            <a:prstDash val="solid"/>
          </a:ln>
        </p:spPr>
      </p:sp>
      <p:sp>
        <p:nvSpPr>
          <p:cNvPr id="26" name="Text 24"/>
          <p:cNvSpPr/>
          <p:nvPr/>
        </p:nvSpPr>
        <p:spPr>
          <a:xfrm>
            <a:off x="320040" y="3008376"/>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6</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27" name="Text 25"/>
          <p:cNvSpPr/>
          <p:nvPr/>
        </p:nvSpPr>
        <p:spPr>
          <a:xfrm>
            <a:off x="886968" y="3072384"/>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Pollutant Analysis</a:t>
            </a:r>
            <a:endParaRPr lang="en-US" sz="1300" dirty="0"/>
          </a:p>
        </p:txBody>
      </p:sp>
      <p:sp>
        <p:nvSpPr>
          <p:cNvPr id="28" name="Text 26"/>
          <p:cNvSpPr/>
          <p:nvPr/>
        </p:nvSpPr>
        <p:spPr>
          <a:xfrm>
            <a:off x="886968" y="3419856"/>
            <a:ext cx="3520440" cy="438912"/>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All pollutant average levels</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all over different cities</a:t>
            </a:r>
            <a:endPar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Shape 27"/>
          <p:cNvSpPr/>
          <p:nvPr/>
        </p:nvSpPr>
        <p:spPr>
          <a:xfrm>
            <a:off x="4846320" y="3008376"/>
            <a:ext cx="4206240"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30" name="Shape 28"/>
          <p:cNvSpPr/>
          <p:nvPr/>
        </p:nvSpPr>
        <p:spPr>
          <a:xfrm>
            <a:off x="4846320" y="3008376"/>
            <a:ext cx="475488" cy="914400"/>
          </a:xfrm>
          <a:prstGeom prst="roundRect">
            <a:avLst>
              <a:gd name="adj" fmla="val 19231"/>
            </a:avLst>
          </a:prstGeom>
          <a:solidFill>
            <a:srgbClr val="2C5F2D"/>
          </a:solidFill>
          <a:ln w="12700">
            <a:solidFill>
              <a:srgbClr val="2C5F2D"/>
            </a:solidFill>
            <a:prstDash val="solid"/>
          </a:ln>
        </p:spPr>
      </p:sp>
      <p:sp>
        <p:nvSpPr>
          <p:cNvPr id="31" name="Text 29"/>
          <p:cNvSpPr/>
          <p:nvPr/>
        </p:nvSpPr>
        <p:spPr>
          <a:xfrm>
            <a:off x="4846320" y="3008376"/>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7</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32" name="Text 30"/>
          <p:cNvSpPr/>
          <p:nvPr/>
        </p:nvSpPr>
        <p:spPr>
          <a:xfrm>
            <a:off x="5413248" y="3072384"/>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Seasonal &amp; T</a:t>
            </a:r>
            <a:r>
              <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emporal Patterns</a:t>
            </a:r>
            <a:endParaRPr lang="en-IN" alt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endParaRPr>
          </a:p>
        </p:txBody>
      </p:sp>
      <p:sp>
        <p:nvSpPr>
          <p:cNvPr id="33" name="Text 31"/>
          <p:cNvSpPr/>
          <p:nvPr/>
        </p:nvSpPr>
        <p:spPr>
          <a:xfrm>
            <a:off x="5413248" y="3419856"/>
            <a:ext cx="3520440" cy="438912"/>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Season bar chart, monthly trend, year-over-year AQI comparison</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 AQI by Season</a:t>
            </a:r>
            <a:endPar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
        <p:nvSpPr>
          <p:cNvPr id="34" name="Shape 32"/>
          <p:cNvSpPr/>
          <p:nvPr/>
        </p:nvSpPr>
        <p:spPr>
          <a:xfrm>
            <a:off x="795655" y="4039235"/>
            <a:ext cx="3730625" cy="91440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35" name="Shape 33"/>
          <p:cNvSpPr/>
          <p:nvPr/>
        </p:nvSpPr>
        <p:spPr>
          <a:xfrm>
            <a:off x="320040" y="4039489"/>
            <a:ext cx="475488" cy="914400"/>
          </a:xfrm>
          <a:prstGeom prst="roundRect">
            <a:avLst>
              <a:gd name="adj" fmla="val 19231"/>
            </a:avLst>
          </a:prstGeom>
          <a:solidFill>
            <a:srgbClr val="065A82"/>
          </a:solidFill>
          <a:ln w="12700">
            <a:solidFill>
              <a:srgbClr val="065A82"/>
            </a:solidFill>
            <a:prstDash val="solid"/>
          </a:ln>
        </p:spPr>
        <p:txBody>
          <a:bodyPr/>
          <a:p>
            <a:pPr algn="ctr">
              <a:lnSpc>
                <a:spcPct val="190000"/>
              </a:lnSpc>
            </a:pPr>
            <a:r>
              <a:rPr lang="en-IN" altLang="en-US" sz="1400">
                <a:solidFill>
                  <a:schemeClr val="bg1"/>
                </a:solidFill>
              </a:rPr>
              <a:t>P8</a:t>
            </a:r>
            <a:endParaRPr lang="en-IN" altLang="en-US" sz="1400">
              <a:solidFill>
                <a:schemeClr val="bg1"/>
              </a:solidFill>
            </a:endParaRPr>
          </a:p>
        </p:txBody>
      </p:sp>
      <p:sp>
        <p:nvSpPr>
          <p:cNvPr id="36" name="Text 34"/>
          <p:cNvSpPr/>
          <p:nvPr/>
        </p:nvSpPr>
        <p:spPr>
          <a:xfrm>
            <a:off x="2468880" y="4032504"/>
            <a:ext cx="475488" cy="914400"/>
          </a:xfrm>
          <a:prstGeom prst="rect">
            <a:avLst/>
          </a:prstGeom>
          <a:noFill/>
        </p:spPr>
        <p:txBody>
          <a:bodyPr wrap="square" rtlCol="0" anchor="ctr"/>
          <a:lstStyle/>
          <a:p>
            <a:pPr marL="0" indent="0" algn="ctr">
              <a:buNone/>
            </a:pPr>
            <a:r>
              <a:rPr 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r>
              <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rPr>
              <a:t>8</a:t>
            </a:r>
            <a:endParaRPr lang="en-IN" altLang="en-US" sz="1100" b="1" dirty="0">
              <a:solidFill>
                <a:srgbClr val="FFFFFF"/>
              </a:solidFill>
              <a:latin typeface="Cambria" panose="02040503050406030204" pitchFamily="34" charset="0"/>
              <a:ea typeface="Cambria" panose="02040503050406030204" pitchFamily="34" charset="-122"/>
              <a:cs typeface="Cambria" panose="02040503050406030204" pitchFamily="34" charset="-120"/>
            </a:endParaRPr>
          </a:p>
        </p:txBody>
      </p:sp>
      <p:sp>
        <p:nvSpPr>
          <p:cNvPr id="37" name="Text 35"/>
          <p:cNvSpPr/>
          <p:nvPr/>
        </p:nvSpPr>
        <p:spPr>
          <a:xfrm>
            <a:off x="886968" y="4060317"/>
            <a:ext cx="3520440" cy="320040"/>
          </a:xfrm>
          <a:prstGeom prst="rect">
            <a:avLst/>
          </a:prstGeom>
          <a:noFill/>
        </p:spPr>
        <p:txBody>
          <a:bodyPr wrap="square" rtlCol="0" anchor="ctr"/>
          <a:lstStyle/>
          <a:p>
            <a:pPr marL="0" indent="0">
              <a:buNone/>
            </a:pPr>
            <a:r>
              <a:rPr lang="en-US" sz="1300" b="1" dirty="0">
                <a:solidFill>
                  <a:srgbClr val="1E293B"/>
                </a:solidFill>
                <a:latin typeface="Cambria" panose="02040503050406030204" pitchFamily="34" charset="0"/>
                <a:ea typeface="Cambria" panose="02040503050406030204" pitchFamily="34" charset="-122"/>
                <a:cs typeface="Cambria" panose="02040503050406030204" pitchFamily="34" charset="-120"/>
              </a:rPr>
              <a:t>Drivers &amp; Correlations</a:t>
            </a:r>
            <a:endParaRPr lang="en-US" sz="1300" dirty="0"/>
          </a:p>
        </p:txBody>
      </p:sp>
      <p:sp>
        <p:nvSpPr>
          <p:cNvPr id="38" name="Text 36"/>
          <p:cNvSpPr/>
          <p:nvPr/>
        </p:nvSpPr>
        <p:spPr>
          <a:xfrm>
            <a:off x="886968" y="4506214"/>
            <a:ext cx="3520440" cy="438912"/>
          </a:xfrm>
          <a:prstGeom prst="rect">
            <a:avLst/>
          </a:prstGeom>
          <a:noFill/>
        </p:spPr>
        <p:txBody>
          <a:bodyPr wrap="square" rtlCol="0" anchor="ctr"/>
          <a:lstStyle/>
          <a:p>
            <a:pPr marL="0" indent="0">
              <a:buNone/>
            </a:pPr>
            <a:r>
              <a:rPr 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AQI </a:t>
            </a:r>
            <a:r>
              <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rPr>
              <a:t>Category  vs Temperature,Wind, Humidity, Rainfall, Traffic</a:t>
            </a:r>
            <a:endParaRPr lang="en-IN" altLang="en-US" sz="1050" dirty="0">
              <a:solidFill>
                <a:srgbClr val="64748B"/>
              </a:solidFill>
              <a:latin typeface="Calibri" panose="020F0502020204030204" pitchFamily="34" charset="0"/>
              <a:ea typeface="Calibri" panose="020F0502020204030204" pitchFamily="34" charset="-122"/>
              <a:cs typeface="Calibri" panose="020F0502020204030204" pitchFamily="34" charset="-120"/>
            </a:endParaRPr>
          </a:p>
        </p:txBody>
      </p:sp>
      <p:sp>
        <p:nvSpPr>
          <p:cNvPr id="39" name="Shape 37"/>
          <p:cNvSpPr/>
          <p:nvPr/>
        </p:nvSpPr>
        <p:spPr>
          <a:xfrm>
            <a:off x="0" y="5070348"/>
            <a:ext cx="9144000" cy="73152"/>
          </a:xfrm>
          <a:prstGeom prst="rect">
            <a:avLst/>
          </a:prstGeom>
          <a:solidFill>
            <a:srgbClr val="02C39A"/>
          </a:solidFill>
          <a:ln w="12700">
            <a:solidFill>
              <a:srgbClr val="02C39A"/>
            </a:solidFill>
            <a:prstDash val="solid"/>
          </a:ln>
        </p:spPr>
      </p:sp>
      <p:sp>
        <p:nvSpPr>
          <p:cNvPr id="41" name="Shape 33"/>
          <p:cNvSpPr/>
          <p:nvPr/>
        </p:nvSpPr>
        <p:spPr>
          <a:xfrm>
            <a:off x="4846320" y="4097274"/>
            <a:ext cx="475488" cy="914400"/>
          </a:xfrm>
          <a:prstGeom prst="roundRect">
            <a:avLst>
              <a:gd name="adj" fmla="val 19231"/>
            </a:avLst>
          </a:prstGeom>
          <a:solidFill>
            <a:srgbClr val="065A82"/>
          </a:solidFill>
          <a:ln w="12700">
            <a:solidFill>
              <a:srgbClr val="065A82"/>
            </a:solidFill>
            <a:prstDash val="solid"/>
          </a:ln>
        </p:spPr>
        <p:txBody>
          <a:bodyPr/>
          <a:p>
            <a:pPr algn="ctr">
              <a:lnSpc>
                <a:spcPct val="190000"/>
              </a:lnSpc>
            </a:pPr>
            <a:r>
              <a:rPr lang="en-IN" altLang="en-US" sz="1400">
                <a:solidFill>
                  <a:schemeClr val="bg1"/>
                </a:solidFill>
              </a:rPr>
              <a:t>P8</a:t>
            </a:r>
            <a:endParaRPr lang="en-IN" altLang="en-US" sz="1400">
              <a:solidFill>
                <a:schemeClr val="bg1"/>
              </a:solidFill>
            </a:endParaRPr>
          </a:p>
        </p:txBody>
      </p:sp>
      <p:sp>
        <p:nvSpPr>
          <p:cNvPr id="42" name="Shape 32"/>
          <p:cNvSpPr/>
          <p:nvPr/>
        </p:nvSpPr>
        <p:spPr>
          <a:xfrm>
            <a:off x="5321935" y="4097655"/>
            <a:ext cx="3730625" cy="855980"/>
          </a:xfrm>
          <a:prstGeom prst="roundRect">
            <a:avLst>
              <a:gd name="adj" fmla="val 10000"/>
            </a:avLst>
          </a:prstGeom>
          <a:solidFill>
            <a:srgbClr val="F0F9FB"/>
          </a:solidFill>
          <a:effectLst>
            <a:outerShdw blurRad="76200" dist="25400" dir="2700000" algn="bl" rotWithShape="0">
              <a:srgbClr val="000000">
                <a:alpha val="12000"/>
              </a:srgbClr>
            </a:outerShdw>
          </a:effectLst>
        </p:spPr>
        <p:txBody>
          <a:bodyPr/>
          <a:p>
            <a:endParaRPr lang="en-IN" altLang="en-US"/>
          </a:p>
        </p:txBody>
      </p:sp>
      <p:sp>
        <p:nvSpPr>
          <p:cNvPr id="43" name="Text 35"/>
          <p:cNvSpPr/>
          <p:nvPr/>
        </p:nvSpPr>
        <p:spPr>
          <a:xfrm>
            <a:off x="5321808" y="4097147"/>
            <a:ext cx="3520440" cy="320040"/>
          </a:xfrm>
          <a:prstGeom prst="rect">
            <a:avLst/>
          </a:prstGeom>
          <a:noFill/>
        </p:spPr>
        <p:txBody>
          <a:bodyPr wrap="square" rtlCol="0" anchor="ctr"/>
          <a:lstStyle/>
          <a:p>
            <a:pPr marL="0" indent="0">
              <a:buNone/>
            </a:pPr>
            <a:r>
              <a:rPr lang="en-IN" altLang="en-US" sz="1300" b="1" dirty="0">
                <a:cs typeface="+mn-lt"/>
              </a:rPr>
              <a:t>   Health Advisory</a:t>
            </a:r>
            <a:endParaRPr lang="en-IN" altLang="en-US" sz="1300" b="1" dirty="0">
              <a:cs typeface="+mn-lt"/>
            </a:endParaRPr>
          </a:p>
        </p:txBody>
      </p:sp>
      <p:sp>
        <p:nvSpPr>
          <p:cNvPr id="44" name="Text 36"/>
          <p:cNvSpPr/>
          <p:nvPr/>
        </p:nvSpPr>
        <p:spPr>
          <a:xfrm>
            <a:off x="5321808" y="4506214"/>
            <a:ext cx="3520440" cy="438912"/>
          </a:xfrm>
          <a:prstGeom prst="rect">
            <a:avLst/>
          </a:prstGeom>
          <a:noFill/>
        </p:spPr>
        <p:txBody>
          <a:bodyPr wrap="square" rtlCol="0" anchor="ctr"/>
          <a:lstStyle/>
          <a:p>
            <a:pPr marL="0" indent="0">
              <a:buNone/>
            </a:pPr>
            <a:r>
              <a:rPr lang="en-IN" altLang="en-US" sz="1050" dirty="0">
                <a:solidFill>
                  <a:schemeClr val="accent1">
                    <a:lumMod val="75000"/>
                  </a:schemeClr>
                </a:solidFill>
              </a:rPr>
              <a:t>   Health Advisory by City</a:t>
            </a:r>
            <a:r>
              <a:rPr lang="en-IN" altLang="en-US" sz="1050" dirty="0">
                <a:solidFill>
                  <a:schemeClr val="accent1">
                    <a:lumMod val="40000"/>
                    <a:lumOff val="60000"/>
                  </a:schemeClr>
                </a:solidFill>
              </a:rPr>
              <a:t> </a:t>
            </a:r>
            <a:endParaRPr lang="en-IN" altLang="en-US" sz="1050" dirty="0">
              <a:solidFill>
                <a:schemeClr val="accent1">
                  <a:lumMod val="40000"/>
                  <a:lumOff val="6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065A82"/>
                </a:solidFill>
                <a:latin typeface="Cambria" panose="02040503050406030204" pitchFamily="34" charset="0"/>
                <a:ea typeface="Cambria" panose="02040503050406030204" pitchFamily="34" charset="-122"/>
                <a:cs typeface="Cambria" panose="02040503050406030204" pitchFamily="34" charset="-120"/>
              </a:rPr>
              <a:t>Page 1 &amp; 2 — Overview Dashboards</a:t>
            </a:r>
            <a:endParaRPr lang="en-US" sz="2800" dirty="0"/>
          </a:p>
        </p:txBody>
      </p:sp>
      <p:sp>
        <p:nvSpPr>
          <p:cNvPr id="4" name="Shape 2"/>
          <p:cNvSpPr/>
          <p:nvPr/>
        </p:nvSpPr>
        <p:spPr>
          <a:xfrm>
            <a:off x="365760" y="914400"/>
            <a:ext cx="5029200" cy="3474720"/>
          </a:xfrm>
          <a:prstGeom prst="roundRect">
            <a:avLst>
              <a:gd name="adj" fmla="val 2632"/>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365760" y="914400"/>
            <a:ext cx="5029200" cy="3474720"/>
          </a:xfrm>
          <a:prstGeom prst="rect">
            <a:avLst/>
          </a:prstGeom>
          <a:noFill/>
        </p:spPr>
        <p:txBody>
          <a:bodyPr wrap="square" rtlCol="0" anchor="ctr"/>
          <a:lstStyle/>
          <a:p>
            <a:pPr marL="0" indent="0" algn="ctr">
              <a:buNone/>
            </a:pPr>
            <a:r>
              <a:rPr lang="en-US" sz="13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Overview Page from Power BI ]</a:t>
            </a:r>
            <a:endParaRPr lang="en-US" sz="1300" dirty="0"/>
          </a:p>
        </p:txBody>
      </p:sp>
      <p:sp>
        <p:nvSpPr>
          <p:cNvPr id="6" name="Shape 4"/>
          <p:cNvSpPr/>
          <p:nvPr/>
        </p:nvSpPr>
        <p:spPr>
          <a:xfrm>
            <a:off x="5584825" y="914400"/>
            <a:ext cx="3200400" cy="3474720"/>
          </a:xfrm>
          <a:prstGeom prst="roundRect">
            <a:avLst>
              <a:gd name="adj" fmla="val 2857"/>
            </a:avLst>
          </a:prstGeom>
          <a:solidFill>
            <a:srgbClr val="F0F9FB"/>
          </a:solidFill>
          <a:effectLst>
            <a:outerShdw blurRad="76200" dist="25400" dir="2700000" algn="bl" rotWithShape="0">
              <a:srgbClr val="000000">
                <a:alpha val="12000"/>
              </a:srgbClr>
            </a:outerShdw>
          </a:effectLst>
        </p:spPr>
        <p:txBody>
          <a:bodyPr/>
          <a:p>
            <a:endParaRPr lang="en-US"/>
          </a:p>
        </p:txBody>
      </p:sp>
      <p:sp>
        <p:nvSpPr>
          <p:cNvPr id="7" name="Text 5"/>
          <p:cNvSpPr/>
          <p:nvPr/>
        </p:nvSpPr>
        <p:spPr>
          <a:xfrm>
            <a:off x="5669280" y="1005840"/>
            <a:ext cx="3017520" cy="347472"/>
          </a:xfrm>
          <a:prstGeom prst="rect">
            <a:avLst/>
          </a:prstGeom>
          <a:noFill/>
        </p:spPr>
        <p:txBody>
          <a:bodyPr wrap="square" rtlCol="0" anchor="ctr"/>
          <a:lstStyle/>
          <a:p>
            <a:pPr marL="0" indent="0">
              <a:buNone/>
            </a:pPr>
            <a:r>
              <a:rPr lang="en-US" sz="1400" b="1" dirty="0">
                <a:solidFill>
                  <a:srgbClr val="065A82"/>
                </a:solidFill>
                <a:latin typeface="Cambria" panose="02040503050406030204" pitchFamily="34" charset="0"/>
                <a:ea typeface="Cambria" panose="02040503050406030204" pitchFamily="34" charset="-122"/>
                <a:cs typeface="Cambria" panose="02040503050406030204" pitchFamily="34" charset="-120"/>
              </a:rPr>
              <a:t>Visuals Included</a:t>
            </a:r>
            <a:endParaRPr lang="en-US" sz="1400" dirty="0"/>
          </a:p>
        </p:txBody>
      </p:sp>
      <p:sp>
        <p:nvSpPr>
          <p:cNvPr id="8" name="Text 6"/>
          <p:cNvSpPr/>
          <p:nvPr/>
        </p:nvSpPr>
        <p:spPr>
          <a:xfrm>
            <a:off x="5715000" y="1444752"/>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Avg AQI KPI Card</a:t>
            </a:r>
            <a:endParaRPr lang="en-US" sz="1150" dirty="0"/>
          </a:p>
        </p:txBody>
      </p:sp>
      <p:sp>
        <p:nvSpPr>
          <p:cNvPr id="9" name="Text 7"/>
          <p:cNvSpPr/>
          <p:nvPr/>
        </p:nvSpPr>
        <p:spPr>
          <a:xfrm>
            <a:off x="5715000" y="1874520"/>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Total Cities &amp; States Cards</a:t>
            </a:r>
            <a:endParaRPr lang="en-US" sz="1150" dirty="0"/>
          </a:p>
        </p:txBody>
      </p:sp>
      <p:sp>
        <p:nvSpPr>
          <p:cNvPr id="10" name="Text 8"/>
          <p:cNvSpPr/>
          <p:nvPr/>
        </p:nvSpPr>
        <p:spPr>
          <a:xfrm>
            <a:off x="5715000" y="2304288"/>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r>
              <a:rPr lang="en-IN" alt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 Days by</a:t>
            </a: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Donut Chart</a:t>
            </a:r>
            <a:endParaRPr lang="en-US" sz="1150" dirty="0"/>
          </a:p>
        </p:txBody>
      </p:sp>
      <p:sp>
        <p:nvSpPr>
          <p:cNvPr id="11" name="Text 9"/>
          <p:cNvSpPr/>
          <p:nvPr/>
        </p:nvSpPr>
        <p:spPr>
          <a:xfrm>
            <a:off x="5715000" y="2734056"/>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Monthly AQI Stacked Column</a:t>
            </a:r>
            <a:endParaRPr lang="en-US" sz="1150" dirty="0"/>
          </a:p>
        </p:txBody>
      </p:sp>
      <p:sp>
        <p:nvSpPr>
          <p:cNvPr id="12" name="Text 10"/>
          <p:cNvSpPr/>
          <p:nvPr/>
        </p:nvSpPr>
        <p:spPr>
          <a:xfrm>
            <a:off x="5715000" y="3163824"/>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AQI Trend Line (2023-25)</a:t>
            </a:r>
            <a:endParaRPr lang="en-US" sz="1150" dirty="0"/>
          </a:p>
        </p:txBody>
      </p:sp>
      <p:sp>
        <p:nvSpPr>
          <p:cNvPr id="13" name="Text 11"/>
          <p:cNvSpPr/>
          <p:nvPr/>
        </p:nvSpPr>
        <p:spPr>
          <a:xfrm>
            <a:off x="5715000" y="3593592"/>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Health Advisory Bar Chart</a:t>
            </a:r>
            <a:endParaRPr lang="en-US" sz="1150" dirty="0"/>
          </a:p>
        </p:txBody>
      </p:sp>
      <p:sp>
        <p:nvSpPr>
          <p:cNvPr id="14" name="Text 12"/>
          <p:cNvSpPr/>
          <p:nvPr/>
        </p:nvSpPr>
        <p:spPr>
          <a:xfrm>
            <a:off x="5715000" y="4023360"/>
            <a:ext cx="2926080" cy="365760"/>
          </a:xfrm>
          <a:prstGeom prst="rect">
            <a:avLst/>
          </a:prstGeom>
          <a:noFill/>
        </p:spPr>
        <p:txBody>
          <a:bodyPr wrap="square" rtlCol="0" anchor="ctr"/>
          <a:lstStyle/>
          <a:p>
            <a:pPr marL="0" indent="0">
              <a:buNone/>
            </a:pPr>
            <a:r>
              <a:rPr 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 </a:t>
            </a:r>
            <a:r>
              <a:rPr lang="en-IN" alt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rPr>
              <a:t>Slicers for Date, City, AQI Category</a:t>
            </a:r>
            <a:endParaRPr lang="en-IN" altLang="en-US" sz="1150" dirty="0">
              <a:solidFill>
                <a:srgbClr val="1E293B"/>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365760" y="4526280"/>
            <a:ext cx="8412480" cy="411480"/>
          </a:xfrm>
          <a:prstGeom prst="rect">
            <a:avLst/>
          </a:prstGeom>
          <a:noFill/>
        </p:spPr>
        <p:txBody>
          <a:bodyPr wrap="square" rtlCol="0" anchor="ctr"/>
          <a:lstStyle/>
          <a:p>
            <a:pPr marL="0" indent="0">
              <a:buNone/>
            </a:pPr>
            <a:r>
              <a:rPr lang="en-US" sz="1150" i="1" dirty="0">
                <a:solidFill>
                  <a:srgbClr val="1C7293"/>
                </a:solidFill>
                <a:latin typeface="Calibri" panose="020F0502020204030204" pitchFamily="34" charset="0"/>
                <a:ea typeface="Calibri" panose="020F0502020204030204" pitchFamily="34" charset="-122"/>
                <a:cs typeface="Calibri" panose="020F0502020204030204" pitchFamily="34" charset="-120"/>
              </a:rPr>
              <a:t>💡 Key Insight: Average AQI across all cities is ~242 (Poor category). Winter months show higher pollution levels.</a:t>
            </a:r>
            <a:endParaRPr lang="en-US" sz="1150" dirty="0"/>
          </a:p>
        </p:txBody>
      </p:sp>
      <p:sp>
        <p:nvSpPr>
          <p:cNvPr id="16" name="Shape 14"/>
          <p:cNvSpPr/>
          <p:nvPr/>
        </p:nvSpPr>
        <p:spPr>
          <a:xfrm>
            <a:off x="0" y="5070348"/>
            <a:ext cx="9144000" cy="73152"/>
          </a:xfrm>
          <a:prstGeom prst="rect">
            <a:avLst/>
          </a:prstGeom>
          <a:solidFill>
            <a:srgbClr val="065A82"/>
          </a:solidFill>
          <a:ln w="12700">
            <a:solidFill>
              <a:srgbClr val="065A82"/>
            </a:solidFill>
            <a:prstDash val="solid"/>
          </a:ln>
        </p:spPr>
      </p:sp>
      <p:pic>
        <p:nvPicPr>
          <p:cNvPr id="17" name="Picture 16" descr="Screenshot 2026-07-03 112433"/>
          <p:cNvPicPr>
            <a:picLocks noChangeAspect="1"/>
          </p:cNvPicPr>
          <p:nvPr/>
        </p:nvPicPr>
        <p:blipFill>
          <a:blip r:embed="rId1"/>
          <a:stretch>
            <a:fillRect/>
          </a:stretch>
        </p:blipFill>
        <p:spPr>
          <a:xfrm>
            <a:off x="474980" y="978535"/>
            <a:ext cx="4919980" cy="1527175"/>
          </a:xfrm>
          <a:prstGeom prst="rect">
            <a:avLst/>
          </a:prstGeom>
        </p:spPr>
      </p:pic>
      <p:pic>
        <p:nvPicPr>
          <p:cNvPr id="18" name="Picture 17" descr="Screenshot 2026-07-03 112551"/>
          <p:cNvPicPr>
            <a:picLocks noChangeAspect="1"/>
          </p:cNvPicPr>
          <p:nvPr/>
        </p:nvPicPr>
        <p:blipFill>
          <a:blip r:embed="rId2"/>
          <a:stretch>
            <a:fillRect/>
          </a:stretch>
        </p:blipFill>
        <p:spPr>
          <a:xfrm>
            <a:off x="365125" y="2487295"/>
            <a:ext cx="5222240" cy="21621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1C7293"/>
                </a:solidFill>
                <a:latin typeface="Cambria" panose="02040503050406030204" pitchFamily="34" charset="0"/>
                <a:ea typeface="Cambria" panose="02040503050406030204" pitchFamily="34" charset="-122"/>
                <a:cs typeface="Cambria" panose="02040503050406030204" pitchFamily="34" charset="-120"/>
              </a:rPr>
              <a:t>Page 3</a:t>
            </a:r>
            <a:r>
              <a:rPr lang="en-IN" altLang="en-US" sz="2800" b="1" dirty="0">
                <a:solidFill>
                  <a:srgbClr val="1C7293"/>
                </a:solidFill>
                <a:latin typeface="Cambria" panose="02040503050406030204" pitchFamily="34" charset="0"/>
                <a:ea typeface="Cambria" panose="02040503050406030204" pitchFamily="34" charset="-122"/>
                <a:cs typeface="Cambria" panose="02040503050406030204" pitchFamily="34" charset="-120"/>
              </a:rPr>
              <a:t> &amp; 4</a:t>
            </a:r>
            <a:r>
              <a:rPr lang="en-US" sz="2800" b="1" dirty="0">
                <a:solidFill>
                  <a:srgbClr val="1C7293"/>
                </a:solidFill>
                <a:latin typeface="Cambria" panose="02040503050406030204" pitchFamily="34" charset="0"/>
                <a:ea typeface="Cambria" panose="02040503050406030204" pitchFamily="34" charset="-122"/>
                <a:cs typeface="Cambria" panose="02040503050406030204" pitchFamily="34" charset="-120"/>
              </a:rPr>
              <a:t> — City Comparison</a:t>
            </a:r>
            <a:endParaRPr lang="en-US" sz="2800" dirty="0"/>
          </a:p>
        </p:txBody>
      </p:sp>
      <p:sp>
        <p:nvSpPr>
          <p:cNvPr id="4" name="Shape 2"/>
          <p:cNvSpPr/>
          <p:nvPr/>
        </p:nvSpPr>
        <p:spPr>
          <a:xfrm>
            <a:off x="365760" y="914400"/>
            <a:ext cx="5029200" cy="3749040"/>
          </a:xfrm>
          <a:prstGeom prst="roundRect">
            <a:avLst>
              <a:gd name="adj" fmla="val 3704"/>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365760" y="914400"/>
            <a:ext cx="5029200" cy="3752850"/>
          </a:xfrm>
          <a:prstGeom prst="rect">
            <a:avLst/>
          </a:prstGeom>
          <a:noFill/>
        </p:spPr>
        <p:txBody>
          <a:bodyPr wrap="square" rtlCol="0" anchor="ctr"/>
          <a:lstStyle/>
          <a:p>
            <a:pPr marL="0" indent="0" algn="ctr">
              <a:buNone/>
            </a:pPr>
            <a:r>
              <a:rPr lang="en-US" sz="13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City Comparison Page ]</a:t>
            </a:r>
            <a:endParaRPr lang="en-US" sz="1300" dirty="0"/>
          </a:p>
        </p:txBody>
      </p:sp>
      <p:sp>
        <p:nvSpPr>
          <p:cNvPr id="7" name="Shape 4"/>
          <p:cNvSpPr/>
          <p:nvPr/>
        </p:nvSpPr>
        <p:spPr>
          <a:xfrm>
            <a:off x="5577840" y="914400"/>
            <a:ext cx="3200400" cy="2468880"/>
          </a:xfrm>
          <a:prstGeom prst="roundRect">
            <a:avLst>
              <a:gd name="adj" fmla="val 3704"/>
            </a:avLst>
          </a:prstGeom>
          <a:solidFill>
            <a:srgbClr val="F0F9FB"/>
          </a:solidFill>
          <a:effectLst>
            <a:outerShdw blurRad="76200" dist="25400" dir="2700000" algn="bl" rotWithShape="0">
              <a:srgbClr val="000000">
                <a:alpha val="12000"/>
              </a:srgbClr>
            </a:outerShdw>
          </a:effectLst>
        </p:spPr>
      </p:sp>
      <p:sp>
        <p:nvSpPr>
          <p:cNvPr id="8" name="Text 5"/>
          <p:cNvSpPr/>
          <p:nvPr/>
        </p:nvSpPr>
        <p:spPr>
          <a:xfrm>
            <a:off x="5669280" y="1005840"/>
            <a:ext cx="3017520" cy="347472"/>
          </a:xfrm>
          <a:prstGeom prst="rect">
            <a:avLst/>
          </a:prstGeom>
          <a:noFill/>
        </p:spPr>
        <p:txBody>
          <a:bodyPr wrap="square" rtlCol="0" anchor="ctr"/>
          <a:lstStyle/>
          <a:p>
            <a:pPr marL="0" indent="0">
              <a:buNone/>
            </a:pPr>
            <a:r>
              <a:rPr lang="en-US" sz="1400" b="1" dirty="0">
                <a:solidFill>
                  <a:srgbClr val="1C7293"/>
                </a:solidFill>
                <a:latin typeface="Cambria" panose="02040503050406030204" pitchFamily="34" charset="0"/>
                <a:ea typeface="Cambria" panose="02040503050406030204" pitchFamily="34" charset="-122"/>
                <a:cs typeface="Cambria" panose="02040503050406030204" pitchFamily="34" charset="-120"/>
              </a:rPr>
              <a:t>Key Analyses</a:t>
            </a:r>
            <a:endParaRPr lang="en-US" sz="1400" dirty="0"/>
          </a:p>
        </p:txBody>
      </p:sp>
      <p:sp>
        <p:nvSpPr>
          <p:cNvPr id="9" name="Text 6"/>
          <p:cNvSpPr/>
          <p:nvPr/>
        </p:nvSpPr>
        <p:spPr>
          <a:xfrm>
            <a:off x="5715000" y="1444752"/>
            <a:ext cx="292608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City Ranking Table</a:t>
            </a:r>
            <a:endParaRPr lang="en-US" sz="1200" dirty="0"/>
          </a:p>
        </p:txBody>
      </p:sp>
      <p:sp>
        <p:nvSpPr>
          <p:cNvPr id="10" name="Text 7"/>
          <p:cNvSpPr/>
          <p:nvPr/>
        </p:nvSpPr>
        <p:spPr>
          <a:xfrm>
            <a:off x="5715000" y="1901952"/>
            <a:ext cx="292608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Top 5 Most Polluted Cities</a:t>
            </a:r>
            <a:endParaRPr lang="en-US" sz="1200" dirty="0"/>
          </a:p>
        </p:txBody>
      </p:sp>
      <p:sp>
        <p:nvSpPr>
          <p:cNvPr id="11" name="Text 8"/>
          <p:cNvSpPr/>
          <p:nvPr/>
        </p:nvSpPr>
        <p:spPr>
          <a:xfrm>
            <a:off x="5715000" y="2359152"/>
            <a:ext cx="292608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Top 5 Cleanest Cities</a:t>
            </a:r>
            <a:endParaRPr lang="en-US" sz="1200" dirty="0"/>
          </a:p>
        </p:txBody>
      </p:sp>
      <p:sp>
        <p:nvSpPr>
          <p:cNvPr id="12" name="Text 9"/>
          <p:cNvSpPr/>
          <p:nvPr/>
        </p:nvSpPr>
        <p:spPr>
          <a:xfrm>
            <a:off x="5715000" y="2816352"/>
            <a:ext cx="2926080" cy="384048"/>
          </a:xfrm>
          <a:prstGeom prst="rect">
            <a:avLst/>
          </a:prstGeom>
          <a:noFill/>
        </p:spPr>
        <p:txBody>
          <a:bodyPr wrap="square" rtlCol="0" anchor="ctr"/>
          <a:lstStyle/>
          <a:p>
            <a:pPr marL="0" indent="0">
              <a:buNone/>
            </a:pP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Avg AQI</a:t>
            </a:r>
            <a:r>
              <a:rPr lang="en-IN" alt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Line chart</a:t>
            </a:r>
            <a:r>
              <a:rPr lang="en-US" sz="1200" dirty="0">
                <a:solidFill>
                  <a:srgbClr val="1E293B"/>
                </a:solidFill>
                <a:latin typeface="Calibri" panose="020F0502020204030204" pitchFamily="34" charset="0"/>
                <a:ea typeface="Calibri" panose="020F0502020204030204" pitchFamily="34" charset="-122"/>
                <a:cs typeface="Calibri" panose="020F0502020204030204" pitchFamily="34" charset="-120"/>
              </a:rPr>
              <a:t> by City</a:t>
            </a:r>
            <a:endParaRPr lang="en-US" sz="1200" dirty="0"/>
          </a:p>
        </p:txBody>
      </p:sp>
      <p:sp>
        <p:nvSpPr>
          <p:cNvPr id="13" name="Text 10"/>
          <p:cNvSpPr/>
          <p:nvPr/>
        </p:nvSpPr>
        <p:spPr>
          <a:xfrm>
            <a:off x="365760" y="4663440"/>
            <a:ext cx="8412480" cy="320040"/>
          </a:xfrm>
          <a:prstGeom prst="rect">
            <a:avLst/>
          </a:prstGeom>
          <a:noFill/>
        </p:spPr>
        <p:txBody>
          <a:bodyPr wrap="square" rtlCol="0" anchor="ctr"/>
          <a:lstStyle/>
          <a:p>
            <a:pPr marL="0" indent="0">
              <a:buNone/>
            </a:pPr>
            <a:r>
              <a:rPr lang="en-US" sz="1050" i="1" dirty="0">
                <a:solidFill>
                  <a:srgbClr val="1C7293"/>
                </a:solidFill>
                <a:latin typeface="Calibri" panose="020F0502020204030204" pitchFamily="34" charset="0"/>
                <a:ea typeface="Calibri" panose="020F0502020204030204" pitchFamily="34" charset="-122"/>
                <a:cs typeface="Calibri" panose="020F0502020204030204" pitchFamily="34" charset="-120"/>
              </a:rPr>
              <a:t>💡 Key Insight: Patna ranks as most polluted (~247 AQI) while Chandigarh is the cleanest (~237 AQI). All cities fall in the Poor category.</a:t>
            </a:r>
            <a:endParaRPr lang="en-US" sz="1050" dirty="0"/>
          </a:p>
        </p:txBody>
      </p:sp>
      <p:sp>
        <p:nvSpPr>
          <p:cNvPr id="14" name="Shape 11"/>
          <p:cNvSpPr/>
          <p:nvPr/>
        </p:nvSpPr>
        <p:spPr>
          <a:xfrm>
            <a:off x="0" y="5070348"/>
            <a:ext cx="9144000" cy="73152"/>
          </a:xfrm>
          <a:prstGeom prst="rect">
            <a:avLst/>
          </a:prstGeom>
          <a:solidFill>
            <a:srgbClr val="1C7293"/>
          </a:solidFill>
          <a:ln w="12700">
            <a:solidFill>
              <a:srgbClr val="1C7293"/>
            </a:solidFill>
            <a:prstDash val="solid"/>
          </a:ln>
        </p:spPr>
      </p:sp>
      <p:pic>
        <p:nvPicPr>
          <p:cNvPr id="15" name="Picture 14" descr="Screenshot 2026-07-03 113313"/>
          <p:cNvPicPr>
            <a:picLocks noChangeAspect="1"/>
          </p:cNvPicPr>
          <p:nvPr/>
        </p:nvPicPr>
        <p:blipFill>
          <a:blip r:embed="rId1"/>
          <a:stretch>
            <a:fillRect/>
          </a:stretch>
        </p:blipFill>
        <p:spPr>
          <a:xfrm>
            <a:off x="457200" y="1005840"/>
            <a:ext cx="4680585" cy="1701800"/>
          </a:xfrm>
          <a:prstGeom prst="rect">
            <a:avLst/>
          </a:prstGeom>
        </p:spPr>
      </p:pic>
      <p:pic>
        <p:nvPicPr>
          <p:cNvPr id="16" name="Picture 15" descr="Screenshot 2026-07-03 113425"/>
          <p:cNvPicPr>
            <a:picLocks noChangeAspect="1"/>
          </p:cNvPicPr>
          <p:nvPr/>
        </p:nvPicPr>
        <p:blipFill>
          <a:blip r:embed="rId2"/>
          <a:stretch>
            <a:fillRect/>
          </a:stretch>
        </p:blipFill>
        <p:spPr>
          <a:xfrm>
            <a:off x="457200" y="2706370"/>
            <a:ext cx="4772660" cy="18954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8090"/>
          </a:solidFill>
          <a:ln w="12700">
            <a:solidFill>
              <a:srgbClr val="028090"/>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600" b="1" dirty="0">
                <a:solidFill>
                  <a:srgbClr val="028090"/>
                </a:solidFill>
                <a:latin typeface="Cambria" panose="02040503050406030204" pitchFamily="34" charset="0"/>
                <a:ea typeface="Cambria" panose="02040503050406030204" pitchFamily="34" charset="-122"/>
                <a:cs typeface="Cambria" panose="02040503050406030204" pitchFamily="34" charset="-120"/>
              </a:rPr>
              <a:t>Page 5</a:t>
            </a:r>
            <a:r>
              <a:rPr lang="en-IN" altLang="en-US" sz="2600" b="1" dirty="0">
                <a:solidFill>
                  <a:srgbClr val="028090"/>
                </a:solidFill>
                <a:latin typeface="Cambria" panose="02040503050406030204" pitchFamily="34" charset="0"/>
                <a:ea typeface="Cambria" panose="02040503050406030204" pitchFamily="34" charset="-122"/>
                <a:cs typeface="Cambria" panose="02040503050406030204" pitchFamily="34" charset="-120"/>
              </a:rPr>
              <a:t> &amp; 6</a:t>
            </a:r>
            <a:r>
              <a:rPr lang="en-US" sz="2600" b="1" dirty="0">
                <a:solidFill>
                  <a:srgbClr val="028090"/>
                </a:solidFill>
                <a:latin typeface="Cambria" panose="02040503050406030204" pitchFamily="34" charset="0"/>
                <a:ea typeface="Cambria" panose="02040503050406030204" pitchFamily="34" charset="-122"/>
                <a:cs typeface="Cambria" panose="02040503050406030204" pitchFamily="34" charset="-120"/>
              </a:rPr>
              <a:t> — State &amp; Pollutant Analysis</a:t>
            </a:r>
            <a:endParaRPr lang="en-US" sz="2600" dirty="0"/>
          </a:p>
        </p:txBody>
      </p:sp>
      <p:sp>
        <p:nvSpPr>
          <p:cNvPr id="4" name="Shape 2"/>
          <p:cNvSpPr/>
          <p:nvPr/>
        </p:nvSpPr>
        <p:spPr>
          <a:xfrm>
            <a:off x="320040" y="914400"/>
            <a:ext cx="4206240" cy="2926080"/>
          </a:xfrm>
          <a:prstGeom prst="roundRect">
            <a:avLst>
              <a:gd name="adj" fmla="val 3125"/>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320040" y="914400"/>
            <a:ext cx="4206240" cy="2926080"/>
          </a:xfrm>
          <a:prstGeom prst="rect">
            <a:avLst/>
          </a:prstGeom>
          <a:noFill/>
        </p:spPr>
        <p:txBody>
          <a:bodyPr wrap="square" rtlCol="0" anchor="ctr"/>
          <a:lstStyle/>
          <a:p>
            <a:pPr marL="0" indent="0" algn="ctr">
              <a:buNone/>
            </a:pPr>
            <a:r>
              <a:rPr lang="en-US" sz="12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State Comparison / Treemap ]</a:t>
            </a:r>
            <a:endParaRPr lang="en-US" sz="1200" dirty="0"/>
          </a:p>
        </p:txBody>
      </p:sp>
      <p:sp>
        <p:nvSpPr>
          <p:cNvPr id="6" name="Shape 4"/>
          <p:cNvSpPr/>
          <p:nvPr/>
        </p:nvSpPr>
        <p:spPr>
          <a:xfrm>
            <a:off x="4709160" y="914400"/>
            <a:ext cx="4206240" cy="2926080"/>
          </a:xfrm>
          <a:prstGeom prst="roundRect">
            <a:avLst>
              <a:gd name="adj" fmla="val 3125"/>
            </a:avLst>
          </a:prstGeom>
          <a:solidFill>
            <a:srgbClr val="E8F4FD"/>
          </a:solidFill>
          <a:effectLst>
            <a:outerShdw blurRad="76200" dist="25400" dir="2700000" algn="bl" rotWithShape="0">
              <a:srgbClr val="000000">
                <a:alpha val="12000"/>
              </a:srgbClr>
            </a:outerShdw>
          </a:effectLst>
        </p:spPr>
      </p:sp>
      <p:sp>
        <p:nvSpPr>
          <p:cNvPr id="7" name="Text 5"/>
          <p:cNvSpPr/>
          <p:nvPr/>
        </p:nvSpPr>
        <p:spPr>
          <a:xfrm>
            <a:off x="4709160" y="914400"/>
            <a:ext cx="4206240" cy="2926080"/>
          </a:xfrm>
          <a:prstGeom prst="rect">
            <a:avLst/>
          </a:prstGeom>
          <a:noFill/>
        </p:spPr>
        <p:txBody>
          <a:bodyPr wrap="square" rtlCol="0" anchor="ctr"/>
          <a:lstStyle/>
          <a:p>
            <a:pPr marL="0" indent="0" algn="ctr">
              <a:buNone/>
            </a:pPr>
            <a:r>
              <a:rPr lang="en-US" sz="12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Pollutant Analysis Page ]</a:t>
            </a:r>
            <a:endParaRPr lang="en-US" sz="1200" dirty="0"/>
          </a:p>
        </p:txBody>
      </p:sp>
      <p:sp>
        <p:nvSpPr>
          <p:cNvPr id="8" name="Text 6"/>
          <p:cNvSpPr/>
          <p:nvPr/>
        </p:nvSpPr>
        <p:spPr>
          <a:xfrm>
            <a:off x="320040" y="3904488"/>
            <a:ext cx="4206240" cy="320040"/>
          </a:xfrm>
          <a:prstGeom prst="rect">
            <a:avLst/>
          </a:prstGeom>
          <a:noFill/>
        </p:spPr>
        <p:txBody>
          <a:bodyPr wrap="square" rtlCol="0" anchor="ctr"/>
          <a:lstStyle/>
          <a:p>
            <a:pPr marL="0" indent="0" algn="ctr">
              <a:buNone/>
            </a:pPr>
            <a:r>
              <a:rPr lang="en-US" sz="1300" b="1" dirty="0">
                <a:solidFill>
                  <a:srgbClr val="028090"/>
                </a:solidFill>
                <a:latin typeface="Cambria" panose="02040503050406030204" pitchFamily="34" charset="0"/>
                <a:ea typeface="Cambria" panose="02040503050406030204" pitchFamily="34" charset="-122"/>
                <a:cs typeface="Cambria" panose="02040503050406030204" pitchFamily="34" charset="-120"/>
              </a:rPr>
              <a:t>📌 State Analysis</a:t>
            </a:r>
            <a:endParaRPr lang="en-US" sz="1300" dirty="0"/>
          </a:p>
        </p:txBody>
      </p:sp>
      <p:sp>
        <p:nvSpPr>
          <p:cNvPr id="9" name="Text 7"/>
          <p:cNvSpPr/>
          <p:nvPr/>
        </p:nvSpPr>
        <p:spPr>
          <a:xfrm>
            <a:off x="320040" y="4206240"/>
            <a:ext cx="4206240" cy="640080"/>
          </a:xfrm>
          <a:prstGeom prst="rect">
            <a:avLst/>
          </a:prstGeom>
          <a:noFill/>
        </p:spPr>
        <p:txBody>
          <a:bodyPr wrap="square" rtlCol="0" anchor="ctr"/>
          <a:lstStyle/>
          <a:p>
            <a:pPr marL="0" indent="0" algn="ctr">
              <a:buNone/>
            </a:pPr>
            <a:r>
              <a:rPr lang="en-IN" alt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Top 5 Polluted  States Bar chart, </a:t>
            </a:r>
            <a:r>
              <a:rPr 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sym typeface="+mn-ea"/>
              </a:rPr>
              <a:t>Treemap shows state-wise AQI.</a:t>
            </a:r>
            <a:endParaRPr lang="en-US" sz="1100" dirty="0"/>
          </a:p>
        </p:txBody>
      </p:sp>
      <p:sp>
        <p:nvSpPr>
          <p:cNvPr id="10" name="Text 8"/>
          <p:cNvSpPr/>
          <p:nvPr/>
        </p:nvSpPr>
        <p:spPr>
          <a:xfrm>
            <a:off x="4709160" y="3904488"/>
            <a:ext cx="4206240" cy="320040"/>
          </a:xfrm>
          <a:prstGeom prst="rect">
            <a:avLst/>
          </a:prstGeom>
          <a:noFill/>
        </p:spPr>
        <p:txBody>
          <a:bodyPr wrap="square" rtlCol="0" anchor="ctr"/>
          <a:lstStyle/>
          <a:p>
            <a:pPr marL="0" indent="0" algn="ctr">
              <a:buNone/>
            </a:pPr>
            <a:r>
              <a:rPr lang="en-US" sz="1300" b="1" dirty="0">
                <a:solidFill>
                  <a:srgbClr val="B85042"/>
                </a:solidFill>
                <a:latin typeface="Cambria" panose="02040503050406030204" pitchFamily="34" charset="0"/>
                <a:ea typeface="Cambria" panose="02040503050406030204" pitchFamily="34" charset="-122"/>
                <a:cs typeface="Cambria" panose="02040503050406030204" pitchFamily="34" charset="-120"/>
              </a:rPr>
              <a:t>🌫️ Pollutant Analysis</a:t>
            </a:r>
            <a:endParaRPr lang="en-US" sz="1300" dirty="0"/>
          </a:p>
        </p:txBody>
      </p:sp>
      <p:sp>
        <p:nvSpPr>
          <p:cNvPr id="11" name="Text 9"/>
          <p:cNvSpPr/>
          <p:nvPr/>
        </p:nvSpPr>
        <p:spPr>
          <a:xfrm>
            <a:off x="4709160" y="4206240"/>
            <a:ext cx="4206240" cy="640080"/>
          </a:xfrm>
          <a:prstGeom prst="rect">
            <a:avLst/>
          </a:prstGeom>
          <a:noFill/>
        </p:spPr>
        <p:txBody>
          <a:bodyPr wrap="square" rtlCol="0" anchor="ctr"/>
          <a:lstStyle/>
          <a:p>
            <a:pPr marL="0" indent="0" algn="ctr">
              <a:buNone/>
            </a:pPr>
            <a:r>
              <a:rPr lang="en-IN" altLang="en-US" sz="1100" dirty="0">
                <a:solidFill>
                  <a:srgbClr val="64748B"/>
                </a:solidFill>
                <a:latin typeface="Calibri" panose="020F0502020204030204" pitchFamily="34" charset="0"/>
                <a:ea typeface="Calibri" panose="020F0502020204030204" pitchFamily="34" charset="-122"/>
                <a:cs typeface="Calibri" panose="020F0502020204030204" pitchFamily="34" charset="-120"/>
              </a:rPr>
              <a:t>Average Pollutant Levels across all cities</a:t>
            </a:r>
            <a:endParaRPr lang="en-US" sz="1100" dirty="0"/>
          </a:p>
        </p:txBody>
      </p:sp>
      <p:sp>
        <p:nvSpPr>
          <p:cNvPr id="12" name="Shape 10"/>
          <p:cNvSpPr/>
          <p:nvPr/>
        </p:nvSpPr>
        <p:spPr>
          <a:xfrm>
            <a:off x="0" y="5070348"/>
            <a:ext cx="9144000" cy="73152"/>
          </a:xfrm>
          <a:prstGeom prst="rect">
            <a:avLst/>
          </a:prstGeom>
          <a:solidFill>
            <a:srgbClr val="028090"/>
          </a:solidFill>
          <a:ln w="12700">
            <a:solidFill>
              <a:srgbClr val="028090"/>
            </a:solidFill>
            <a:prstDash val="solid"/>
          </a:ln>
        </p:spPr>
      </p:sp>
      <p:pic>
        <p:nvPicPr>
          <p:cNvPr id="13" name="Picture 12" descr="Screenshot 2026-07-03 113552"/>
          <p:cNvPicPr>
            <a:picLocks noChangeAspect="1"/>
          </p:cNvPicPr>
          <p:nvPr/>
        </p:nvPicPr>
        <p:blipFill>
          <a:blip r:embed="rId1"/>
          <a:stretch>
            <a:fillRect/>
          </a:stretch>
        </p:blipFill>
        <p:spPr>
          <a:xfrm>
            <a:off x="457200" y="1024890"/>
            <a:ext cx="4013835" cy="2677795"/>
          </a:xfrm>
          <a:prstGeom prst="rect">
            <a:avLst/>
          </a:prstGeom>
        </p:spPr>
      </p:pic>
      <p:pic>
        <p:nvPicPr>
          <p:cNvPr id="14" name="Picture 13" descr="Screenshot 2026-07-03 113700"/>
          <p:cNvPicPr>
            <a:picLocks noChangeAspect="1"/>
          </p:cNvPicPr>
          <p:nvPr/>
        </p:nvPicPr>
        <p:blipFill>
          <a:blip r:embed="rId2"/>
          <a:stretch>
            <a:fillRect/>
          </a:stretch>
        </p:blipFill>
        <p:spPr>
          <a:xfrm>
            <a:off x="4732655" y="978535"/>
            <a:ext cx="4182745" cy="28613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2C5F2D"/>
          </a:solidFill>
          <a:ln w="12700">
            <a:solidFill>
              <a:srgbClr val="2C5F2D"/>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2C5F2D"/>
                </a:solidFill>
                <a:latin typeface="Cambria" panose="02040503050406030204" pitchFamily="34" charset="0"/>
                <a:ea typeface="Cambria" panose="02040503050406030204" pitchFamily="34" charset="-122"/>
                <a:cs typeface="Cambria" panose="02040503050406030204" pitchFamily="34" charset="-120"/>
              </a:rPr>
              <a:t>Page </a:t>
            </a:r>
            <a:r>
              <a:rPr lang="en-IN" altLang="en-US" sz="2800" b="1" dirty="0">
                <a:solidFill>
                  <a:srgbClr val="2C5F2D"/>
                </a:solidFill>
                <a:latin typeface="Cambria" panose="02040503050406030204" pitchFamily="34" charset="0"/>
                <a:ea typeface="Cambria" panose="02040503050406030204" pitchFamily="34" charset="-122"/>
                <a:cs typeface="Cambria" panose="02040503050406030204" pitchFamily="34" charset="-120"/>
              </a:rPr>
              <a:t>7</a:t>
            </a:r>
            <a:r>
              <a:rPr lang="en-US" sz="2800" b="1" dirty="0">
                <a:solidFill>
                  <a:srgbClr val="2C5F2D"/>
                </a:solidFill>
                <a:latin typeface="Cambria" panose="02040503050406030204" pitchFamily="34" charset="0"/>
                <a:ea typeface="Cambria" panose="02040503050406030204" pitchFamily="34" charset="-122"/>
                <a:cs typeface="Cambria" panose="02040503050406030204" pitchFamily="34" charset="-120"/>
              </a:rPr>
              <a:t> — Seasonal &amp; T</a:t>
            </a:r>
            <a:r>
              <a:rPr lang="en-IN" altLang="en-US" sz="2800" b="1" dirty="0">
                <a:solidFill>
                  <a:srgbClr val="2C5F2D"/>
                </a:solidFill>
                <a:latin typeface="Cambria" panose="02040503050406030204" pitchFamily="34" charset="0"/>
                <a:ea typeface="Cambria" panose="02040503050406030204" pitchFamily="34" charset="-122"/>
                <a:cs typeface="Cambria" panose="02040503050406030204" pitchFamily="34" charset="-120"/>
              </a:rPr>
              <a:t>emporal Patterns</a:t>
            </a:r>
            <a:endParaRPr lang="en-IN" altLang="en-US" sz="2800" b="1" dirty="0">
              <a:solidFill>
                <a:srgbClr val="2C5F2D"/>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320040" y="914400"/>
            <a:ext cx="5303520" cy="3200400"/>
          </a:xfrm>
          <a:prstGeom prst="roundRect">
            <a:avLst>
              <a:gd name="adj" fmla="val 2857"/>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320040" y="914400"/>
            <a:ext cx="5303520" cy="3362325"/>
          </a:xfrm>
          <a:prstGeom prst="rect">
            <a:avLst/>
          </a:prstGeom>
          <a:noFill/>
        </p:spPr>
        <p:txBody>
          <a:bodyPr wrap="square" rtlCol="0" anchor="ctr"/>
          <a:lstStyle/>
          <a:p>
            <a:pPr marL="0" indent="0" algn="ctr">
              <a:buNone/>
            </a:pPr>
            <a:r>
              <a:rPr lang="en-US" sz="13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Seasonal Trends Page ]</a:t>
            </a:r>
            <a:endParaRPr lang="en-US" sz="1300" dirty="0"/>
          </a:p>
        </p:txBody>
      </p:sp>
      <p:sp>
        <p:nvSpPr>
          <p:cNvPr id="6" name="Shape 4"/>
          <p:cNvSpPr/>
          <p:nvPr/>
        </p:nvSpPr>
        <p:spPr>
          <a:xfrm>
            <a:off x="5760720" y="914400"/>
            <a:ext cx="3063240" cy="73152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7" name="Text 5"/>
          <p:cNvSpPr/>
          <p:nvPr/>
        </p:nvSpPr>
        <p:spPr>
          <a:xfrm>
            <a:off x="5852160" y="960120"/>
            <a:ext cx="2834640" cy="274320"/>
          </a:xfrm>
          <a:prstGeom prst="rect">
            <a:avLst/>
          </a:prstGeom>
          <a:noFill/>
        </p:spPr>
        <p:txBody>
          <a:bodyPr wrap="square" rtlCol="0" anchor="ctr"/>
          <a:lstStyle/>
          <a:p>
            <a:pPr marL="0" indent="0">
              <a:buNone/>
            </a:pPr>
            <a:r>
              <a:rPr lang="en-US" sz="1200" b="1" dirty="0">
                <a:solidFill>
                  <a:srgbClr val="2C5F2D"/>
                </a:solidFill>
                <a:latin typeface="Cambria" panose="02040503050406030204" pitchFamily="34" charset="0"/>
                <a:ea typeface="Cambria" panose="02040503050406030204" pitchFamily="34" charset="-122"/>
                <a:cs typeface="Cambria" panose="02040503050406030204" pitchFamily="34" charset="-120"/>
              </a:rPr>
              <a:t>❄️ Winter</a:t>
            </a:r>
            <a:endParaRPr lang="en-US" sz="1200" dirty="0"/>
          </a:p>
        </p:txBody>
      </p:sp>
      <p:sp>
        <p:nvSpPr>
          <p:cNvPr id="8" name="Text 6"/>
          <p:cNvSpPr/>
          <p:nvPr/>
        </p:nvSpPr>
        <p:spPr>
          <a:xfrm>
            <a:off x="5852160" y="1252728"/>
            <a:ext cx="2834640" cy="338328"/>
          </a:xfrm>
          <a:prstGeom prst="rect">
            <a:avLst/>
          </a:prstGeom>
          <a:noFill/>
        </p:spPr>
        <p:txBody>
          <a:bodyPr wrap="square" rtlCol="0" anchor="ctr"/>
          <a:lstStyle/>
          <a:p>
            <a:pPr marL="0" indent="0">
              <a:buNone/>
            </a:pPr>
            <a:r>
              <a:rPr lang="en-IN" alt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Moderate</a:t>
            </a: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AQI — cold air traps pollutants near ground level</a:t>
            </a:r>
            <a:endParaRPr lang="en-US" sz="1000" dirty="0"/>
          </a:p>
        </p:txBody>
      </p:sp>
      <p:sp>
        <p:nvSpPr>
          <p:cNvPr id="9" name="Shape 7"/>
          <p:cNvSpPr/>
          <p:nvPr/>
        </p:nvSpPr>
        <p:spPr>
          <a:xfrm>
            <a:off x="5760720" y="1719072"/>
            <a:ext cx="3063240" cy="73152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10" name="Text 8"/>
          <p:cNvSpPr/>
          <p:nvPr/>
        </p:nvSpPr>
        <p:spPr>
          <a:xfrm>
            <a:off x="5852160" y="1764792"/>
            <a:ext cx="2834640" cy="274320"/>
          </a:xfrm>
          <a:prstGeom prst="rect">
            <a:avLst/>
          </a:prstGeom>
          <a:noFill/>
        </p:spPr>
        <p:txBody>
          <a:bodyPr wrap="square" rtlCol="0" anchor="ctr"/>
          <a:lstStyle/>
          <a:p>
            <a:pPr marL="0" indent="0">
              <a:buNone/>
            </a:pPr>
            <a:r>
              <a:rPr lang="en-US" sz="1200" b="1" dirty="0">
                <a:solidFill>
                  <a:srgbClr val="2C5F2D"/>
                </a:solidFill>
                <a:latin typeface="Cambria" panose="02040503050406030204" pitchFamily="34" charset="0"/>
                <a:ea typeface="Cambria" panose="02040503050406030204" pitchFamily="34" charset="-122"/>
                <a:cs typeface="Cambria" panose="02040503050406030204" pitchFamily="34" charset="-120"/>
              </a:rPr>
              <a:t>☀️ Summer</a:t>
            </a:r>
            <a:endParaRPr lang="en-US" sz="1200" dirty="0"/>
          </a:p>
        </p:txBody>
      </p:sp>
      <p:sp>
        <p:nvSpPr>
          <p:cNvPr id="11" name="Text 9"/>
          <p:cNvSpPr/>
          <p:nvPr/>
        </p:nvSpPr>
        <p:spPr>
          <a:xfrm>
            <a:off x="5852160" y="2057400"/>
            <a:ext cx="2834640" cy="338328"/>
          </a:xfrm>
          <a:prstGeom prst="rect">
            <a:avLst/>
          </a:prstGeom>
          <a:noFill/>
        </p:spPr>
        <p:txBody>
          <a:bodyPr wrap="square" rtlCol="0" anchor="ctr"/>
          <a:lstStyle/>
          <a:p>
            <a:pPr marL="0" indent="0">
              <a:buNone/>
            </a:pPr>
            <a:r>
              <a:rPr lang="en-IN" alt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Highest</a:t>
            </a: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AQI — heat can worsen ozone but disperses particles</a:t>
            </a:r>
            <a:endParaRPr lang="en-US" sz="1000" dirty="0"/>
          </a:p>
        </p:txBody>
      </p:sp>
      <p:sp>
        <p:nvSpPr>
          <p:cNvPr id="12" name="Shape 10"/>
          <p:cNvSpPr/>
          <p:nvPr/>
        </p:nvSpPr>
        <p:spPr>
          <a:xfrm>
            <a:off x="5760720" y="2523744"/>
            <a:ext cx="3063240" cy="73152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13" name="Text 11"/>
          <p:cNvSpPr/>
          <p:nvPr/>
        </p:nvSpPr>
        <p:spPr>
          <a:xfrm>
            <a:off x="5852160" y="2569464"/>
            <a:ext cx="2834640" cy="274320"/>
          </a:xfrm>
          <a:prstGeom prst="rect">
            <a:avLst/>
          </a:prstGeom>
          <a:noFill/>
        </p:spPr>
        <p:txBody>
          <a:bodyPr wrap="square" rtlCol="0" anchor="ctr"/>
          <a:lstStyle/>
          <a:p>
            <a:pPr marL="0" indent="0">
              <a:buNone/>
            </a:pPr>
            <a:r>
              <a:rPr lang="en-US" sz="1200" b="1" dirty="0">
                <a:solidFill>
                  <a:srgbClr val="2C5F2D"/>
                </a:solidFill>
                <a:latin typeface="Cambria" panose="02040503050406030204" pitchFamily="34" charset="0"/>
                <a:ea typeface="Cambria" panose="02040503050406030204" pitchFamily="34" charset="-122"/>
                <a:cs typeface="Cambria" panose="02040503050406030204" pitchFamily="34" charset="-120"/>
              </a:rPr>
              <a:t>🌧️ Monsoon</a:t>
            </a:r>
            <a:endParaRPr lang="en-US" sz="1200" dirty="0"/>
          </a:p>
        </p:txBody>
      </p:sp>
      <p:sp>
        <p:nvSpPr>
          <p:cNvPr id="14" name="Text 12"/>
          <p:cNvSpPr/>
          <p:nvPr/>
        </p:nvSpPr>
        <p:spPr>
          <a:xfrm>
            <a:off x="5852160" y="2862072"/>
            <a:ext cx="2834640" cy="338328"/>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Lowest AQI — rain washes pollutants out of the atmosphere</a:t>
            </a:r>
            <a:endParaRPr lang="en-US" sz="1000" dirty="0"/>
          </a:p>
        </p:txBody>
      </p:sp>
      <p:sp>
        <p:nvSpPr>
          <p:cNvPr id="15" name="Shape 13"/>
          <p:cNvSpPr/>
          <p:nvPr/>
        </p:nvSpPr>
        <p:spPr>
          <a:xfrm>
            <a:off x="5760720" y="3328416"/>
            <a:ext cx="3063240" cy="731520"/>
          </a:xfrm>
          <a:prstGeom prst="roundRect">
            <a:avLst>
              <a:gd name="adj" fmla="val 10000"/>
            </a:avLst>
          </a:prstGeom>
          <a:solidFill>
            <a:srgbClr val="F0F9FB"/>
          </a:solidFill>
          <a:effectLst>
            <a:outerShdw blurRad="76200" dist="25400" dir="2700000" algn="bl" rotWithShape="0">
              <a:srgbClr val="000000">
                <a:alpha val="12000"/>
              </a:srgbClr>
            </a:outerShdw>
          </a:effectLst>
        </p:spPr>
      </p:sp>
      <p:sp>
        <p:nvSpPr>
          <p:cNvPr id="16" name="Text 14"/>
          <p:cNvSpPr/>
          <p:nvPr/>
        </p:nvSpPr>
        <p:spPr>
          <a:xfrm>
            <a:off x="5852160" y="3374136"/>
            <a:ext cx="2834640" cy="274320"/>
          </a:xfrm>
          <a:prstGeom prst="rect">
            <a:avLst/>
          </a:prstGeom>
          <a:noFill/>
        </p:spPr>
        <p:txBody>
          <a:bodyPr wrap="square" rtlCol="0" anchor="ctr"/>
          <a:lstStyle/>
          <a:p>
            <a:pPr marL="0" indent="0">
              <a:buNone/>
            </a:pPr>
            <a:r>
              <a:rPr lang="en-US" sz="1200" b="1" dirty="0">
                <a:solidFill>
                  <a:srgbClr val="2C5F2D"/>
                </a:solidFill>
                <a:latin typeface="Cambria" panose="02040503050406030204" pitchFamily="34" charset="0"/>
                <a:ea typeface="Cambria" panose="02040503050406030204" pitchFamily="34" charset="-122"/>
                <a:cs typeface="Cambria" panose="02040503050406030204" pitchFamily="34" charset="-120"/>
              </a:rPr>
              <a:t>🍂 Autumn</a:t>
            </a:r>
            <a:endParaRPr lang="en-US" sz="1200" dirty="0"/>
          </a:p>
        </p:txBody>
      </p:sp>
      <p:sp>
        <p:nvSpPr>
          <p:cNvPr id="17" name="Text 15"/>
          <p:cNvSpPr/>
          <p:nvPr/>
        </p:nvSpPr>
        <p:spPr>
          <a:xfrm>
            <a:off x="5852160" y="3666744"/>
            <a:ext cx="2834640" cy="338328"/>
          </a:xfrm>
          <a:prstGeom prst="rect">
            <a:avLst/>
          </a:prstGeom>
          <a:noFill/>
        </p:spPr>
        <p:txBody>
          <a:bodyPr wrap="square" rtlCol="0" anchor="ctr"/>
          <a:lstStyle/>
          <a:p>
            <a:pPr marL="0" indent="0">
              <a:buNone/>
            </a:pPr>
            <a:r>
              <a:rPr lang="en-IN" alt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Second Highest</a:t>
            </a: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AQI — crop burning and festive pollution increase</a:t>
            </a:r>
            <a:endParaRPr lang="en-US" sz="1000" dirty="0"/>
          </a:p>
        </p:txBody>
      </p:sp>
      <p:sp>
        <p:nvSpPr>
          <p:cNvPr id="18" name="Text 16"/>
          <p:cNvSpPr/>
          <p:nvPr/>
        </p:nvSpPr>
        <p:spPr>
          <a:xfrm>
            <a:off x="320040" y="4251960"/>
            <a:ext cx="8412480" cy="411480"/>
          </a:xfrm>
          <a:prstGeom prst="rect">
            <a:avLst/>
          </a:prstGeom>
          <a:noFill/>
        </p:spPr>
        <p:txBody>
          <a:bodyPr wrap="square" rtlCol="0" anchor="ctr"/>
          <a:lstStyle/>
          <a:p>
            <a:pPr marL="0" indent="0">
              <a:buNone/>
            </a:pPr>
            <a:r>
              <a:rPr lang="en-US" sz="1100" i="1" dirty="0">
                <a:solidFill>
                  <a:srgbClr val="2C5F2D"/>
                </a:solidFill>
                <a:latin typeface="Calibri" panose="020F0502020204030204" pitchFamily="34" charset="0"/>
                <a:ea typeface="Calibri" panose="020F0502020204030204" pitchFamily="34" charset="-122"/>
                <a:cs typeface="Calibri" panose="020F0502020204030204" pitchFamily="34" charset="-120"/>
              </a:rPr>
              <a:t>💡 Note: In this synthetic dataset, AQI is nearly uniform across seasons (~242). The insights above reflect real-world patterns.</a:t>
            </a:r>
            <a:endParaRPr lang="en-US" sz="1100" dirty="0"/>
          </a:p>
        </p:txBody>
      </p:sp>
      <p:sp>
        <p:nvSpPr>
          <p:cNvPr id="19" name="Shape 17"/>
          <p:cNvSpPr/>
          <p:nvPr/>
        </p:nvSpPr>
        <p:spPr>
          <a:xfrm>
            <a:off x="0" y="5070348"/>
            <a:ext cx="9144000" cy="73152"/>
          </a:xfrm>
          <a:prstGeom prst="rect">
            <a:avLst/>
          </a:prstGeom>
          <a:solidFill>
            <a:srgbClr val="2C5F2D"/>
          </a:solidFill>
          <a:ln w="12700">
            <a:solidFill>
              <a:srgbClr val="2C5F2D"/>
            </a:solidFill>
            <a:prstDash val="solid"/>
          </a:ln>
        </p:spPr>
      </p:sp>
      <p:pic>
        <p:nvPicPr>
          <p:cNvPr id="20" name="Picture 19" descr="Screenshot 2026-07-03 113817"/>
          <p:cNvPicPr>
            <a:picLocks noChangeAspect="1"/>
          </p:cNvPicPr>
          <p:nvPr/>
        </p:nvPicPr>
        <p:blipFill>
          <a:blip r:embed="rId1"/>
          <a:stretch>
            <a:fillRect/>
          </a:stretch>
        </p:blipFill>
        <p:spPr>
          <a:xfrm>
            <a:off x="347345" y="914400"/>
            <a:ext cx="5379720" cy="317436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65A82"/>
          </a:solidFill>
          <a:ln w="12700">
            <a:solidFill>
              <a:srgbClr val="065A82"/>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065A82"/>
                </a:solidFill>
                <a:latin typeface="Cambria" panose="02040503050406030204" pitchFamily="34" charset="0"/>
                <a:ea typeface="Cambria" panose="02040503050406030204" pitchFamily="34" charset="-122"/>
                <a:cs typeface="Cambria" panose="02040503050406030204" pitchFamily="34" charset="-120"/>
              </a:rPr>
              <a:t>Page </a:t>
            </a:r>
            <a:r>
              <a:rPr lang="en-IN" altLang="en-US" sz="2800" b="1" dirty="0">
                <a:solidFill>
                  <a:srgbClr val="065A82"/>
                </a:solidFill>
                <a:latin typeface="Cambria" panose="02040503050406030204" pitchFamily="34" charset="0"/>
                <a:ea typeface="Cambria" panose="02040503050406030204" pitchFamily="34" charset="-122"/>
                <a:cs typeface="Cambria" panose="02040503050406030204" pitchFamily="34" charset="-120"/>
              </a:rPr>
              <a:t>8</a:t>
            </a:r>
            <a:r>
              <a:rPr lang="en-US" sz="2800" b="1" dirty="0">
                <a:solidFill>
                  <a:srgbClr val="065A82"/>
                </a:solidFill>
                <a:latin typeface="Cambria" panose="02040503050406030204" pitchFamily="34" charset="0"/>
                <a:ea typeface="Cambria" panose="02040503050406030204" pitchFamily="34" charset="-122"/>
                <a:cs typeface="Cambria" panose="02040503050406030204" pitchFamily="34" charset="-120"/>
              </a:rPr>
              <a:t> — Drivers &amp; Correlations</a:t>
            </a:r>
            <a:endParaRPr lang="en-US" sz="2800" dirty="0"/>
          </a:p>
        </p:txBody>
      </p:sp>
      <p:sp>
        <p:nvSpPr>
          <p:cNvPr id="4" name="Shape 2"/>
          <p:cNvSpPr/>
          <p:nvPr/>
        </p:nvSpPr>
        <p:spPr>
          <a:xfrm>
            <a:off x="320040" y="914400"/>
            <a:ext cx="5029200" cy="3200400"/>
          </a:xfrm>
          <a:prstGeom prst="roundRect">
            <a:avLst>
              <a:gd name="adj" fmla="val 2857"/>
            </a:avLst>
          </a:prstGeom>
          <a:solidFill>
            <a:srgbClr val="E8F4FD"/>
          </a:solidFill>
          <a:effectLst>
            <a:outerShdw blurRad="76200" dist="25400" dir="2700000" algn="bl" rotWithShape="0">
              <a:srgbClr val="000000">
                <a:alpha val="12000"/>
              </a:srgbClr>
            </a:outerShdw>
          </a:effectLst>
        </p:spPr>
      </p:sp>
      <p:sp>
        <p:nvSpPr>
          <p:cNvPr id="5" name="Text 3"/>
          <p:cNvSpPr/>
          <p:nvPr/>
        </p:nvSpPr>
        <p:spPr>
          <a:xfrm>
            <a:off x="320040" y="914400"/>
            <a:ext cx="5029200" cy="3200400"/>
          </a:xfrm>
          <a:prstGeom prst="rect">
            <a:avLst/>
          </a:prstGeom>
          <a:noFill/>
        </p:spPr>
        <p:txBody>
          <a:bodyPr wrap="square" rtlCol="0" anchor="ctr"/>
          <a:lstStyle/>
          <a:p>
            <a:pPr marL="0" indent="0" algn="ctr">
              <a:buNone/>
            </a:pPr>
            <a:r>
              <a:rPr lang="en-US" sz="1300" i="1" dirty="0">
                <a:solidFill>
                  <a:srgbClr val="A0B8C8"/>
                </a:solidFill>
                <a:latin typeface="Calibri" panose="020F0502020204030204" pitchFamily="34" charset="0"/>
                <a:ea typeface="Calibri" panose="020F0502020204030204" pitchFamily="34" charset="-122"/>
                <a:cs typeface="Calibri" panose="020F0502020204030204" pitchFamily="34" charset="-120"/>
              </a:rPr>
              <a:t>[ Insert Screenshot of Drivers Page ]</a:t>
            </a:r>
            <a:endParaRPr lang="en-US" sz="1300" dirty="0"/>
          </a:p>
        </p:txBody>
      </p:sp>
      <p:sp>
        <p:nvSpPr>
          <p:cNvPr id="6" name="Shape 4"/>
          <p:cNvSpPr/>
          <p:nvPr/>
        </p:nvSpPr>
        <p:spPr>
          <a:xfrm>
            <a:off x="5550535" y="914400"/>
            <a:ext cx="3136265" cy="567055"/>
          </a:xfrm>
          <a:prstGeom prst="roundRect">
            <a:avLst>
              <a:gd name="adj" fmla="val 12903"/>
            </a:avLst>
          </a:prstGeom>
          <a:solidFill>
            <a:srgbClr val="F0F9FB"/>
          </a:solidFill>
          <a:effectLst>
            <a:outerShdw blurRad="76200" dist="25400" dir="2700000" algn="bl" rotWithShape="0">
              <a:srgbClr val="000000">
                <a:alpha val="12000"/>
              </a:srgbClr>
            </a:outerShdw>
          </a:effectLst>
        </p:spPr>
      </p:sp>
      <p:sp>
        <p:nvSpPr>
          <p:cNvPr id="7" name="Text 5"/>
          <p:cNvSpPr/>
          <p:nvPr/>
        </p:nvSpPr>
        <p:spPr>
          <a:xfrm>
            <a:off x="5614416" y="941832"/>
            <a:ext cx="1426464" cy="256032"/>
          </a:xfrm>
          <a:prstGeom prst="rect">
            <a:avLst/>
          </a:prstGeom>
          <a:noFill/>
        </p:spPr>
        <p:txBody>
          <a:bodyPr wrap="square" rtlCol="0" anchor="ctr"/>
          <a:lstStyle/>
          <a:p>
            <a:pPr marL="0" indent="0">
              <a:buNone/>
            </a:pPr>
            <a:r>
              <a:rPr lang="en-US" sz="950" b="1" dirty="0">
                <a:solidFill>
                  <a:srgbClr val="065A82"/>
                </a:solidFill>
                <a:latin typeface="Cambria" panose="02040503050406030204" pitchFamily="34" charset="0"/>
                <a:ea typeface="Cambria" panose="02040503050406030204" pitchFamily="34" charset="-122"/>
                <a:cs typeface="Cambria" panose="02040503050406030204" pitchFamily="34" charset="-120"/>
              </a:rPr>
              <a:t>🚗 Traffic Index</a:t>
            </a:r>
            <a:endParaRPr lang="en-US" sz="950" dirty="0"/>
          </a:p>
        </p:txBody>
      </p:sp>
      <p:sp>
        <p:nvSpPr>
          <p:cNvPr id="8" name="Text 6"/>
          <p:cNvSpPr/>
          <p:nvPr/>
        </p:nvSpPr>
        <p:spPr>
          <a:xfrm>
            <a:off x="5614670" y="1207135"/>
            <a:ext cx="2884170" cy="247015"/>
          </a:xfrm>
          <a:prstGeom prst="rect">
            <a:avLst/>
          </a:prstGeom>
          <a:noFill/>
        </p:spPr>
        <p:txBody>
          <a:bodyPr wrap="square"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 Higher traffic = worse AQI</a:t>
            </a:r>
            <a:endParaRPr lang="en-US" sz="900" dirty="0"/>
          </a:p>
        </p:txBody>
      </p:sp>
      <p:sp>
        <p:nvSpPr>
          <p:cNvPr id="15" name="Shape 13"/>
          <p:cNvSpPr/>
          <p:nvPr/>
        </p:nvSpPr>
        <p:spPr>
          <a:xfrm>
            <a:off x="5551170" y="1581785"/>
            <a:ext cx="3218180" cy="567055"/>
          </a:xfrm>
          <a:prstGeom prst="roundRect">
            <a:avLst>
              <a:gd name="adj" fmla="val 12903"/>
            </a:avLst>
          </a:prstGeom>
          <a:solidFill>
            <a:srgbClr val="F0F9FB"/>
          </a:solidFill>
          <a:effectLst>
            <a:outerShdw blurRad="76200" dist="25400" dir="2700000" algn="bl" rotWithShape="0">
              <a:srgbClr val="000000">
                <a:alpha val="12000"/>
              </a:srgbClr>
            </a:outerShdw>
          </a:effectLst>
        </p:spPr>
      </p:sp>
      <p:sp>
        <p:nvSpPr>
          <p:cNvPr id="16" name="Text 14"/>
          <p:cNvSpPr/>
          <p:nvPr/>
        </p:nvSpPr>
        <p:spPr>
          <a:xfrm>
            <a:off x="5657850" y="1609090"/>
            <a:ext cx="3046730" cy="255905"/>
          </a:xfrm>
          <a:prstGeom prst="rect">
            <a:avLst/>
          </a:prstGeom>
          <a:noFill/>
        </p:spPr>
        <p:txBody>
          <a:bodyPr wrap="square" rtlCol="0" anchor="ctr"/>
          <a:lstStyle/>
          <a:p>
            <a:pPr marL="0" indent="0">
              <a:buNone/>
            </a:pPr>
            <a:r>
              <a:rPr lang="en-US" sz="950" b="1" dirty="0">
                <a:solidFill>
                  <a:srgbClr val="065A82"/>
                </a:solidFill>
                <a:latin typeface="Cambria" panose="02040503050406030204" pitchFamily="34" charset="0"/>
                <a:ea typeface="Cambria" panose="02040503050406030204" pitchFamily="34" charset="-122"/>
                <a:cs typeface="Cambria" panose="02040503050406030204" pitchFamily="34" charset="-120"/>
              </a:rPr>
              <a:t>🌡️ Temperature</a:t>
            </a:r>
            <a:endParaRPr lang="en-US" sz="950" dirty="0"/>
          </a:p>
        </p:txBody>
      </p:sp>
      <p:sp>
        <p:nvSpPr>
          <p:cNvPr id="17" name="Text 15"/>
          <p:cNvSpPr/>
          <p:nvPr/>
        </p:nvSpPr>
        <p:spPr>
          <a:xfrm>
            <a:off x="5664835" y="1874520"/>
            <a:ext cx="3039745" cy="247015"/>
          </a:xfrm>
          <a:prstGeom prst="rect">
            <a:avLst/>
          </a:prstGeom>
          <a:noFill/>
        </p:spPr>
        <p:txBody>
          <a:bodyPr wrap="square"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 Higher temp traps pollutants</a:t>
            </a:r>
            <a:endParaRPr lang="en-US" sz="900" dirty="0"/>
          </a:p>
        </p:txBody>
      </p:sp>
      <p:sp>
        <p:nvSpPr>
          <p:cNvPr id="18" name="Shape 16"/>
          <p:cNvSpPr/>
          <p:nvPr/>
        </p:nvSpPr>
        <p:spPr>
          <a:xfrm>
            <a:off x="5550408" y="2249424"/>
            <a:ext cx="1554480" cy="566928"/>
          </a:xfrm>
          <a:prstGeom prst="roundRect">
            <a:avLst>
              <a:gd name="adj" fmla="val 12903"/>
            </a:avLst>
          </a:prstGeom>
          <a:solidFill>
            <a:srgbClr val="F0F9FB"/>
          </a:solidFill>
          <a:effectLst>
            <a:outerShdw blurRad="76200" dist="25400" dir="2700000" algn="bl" rotWithShape="0">
              <a:srgbClr val="000000">
                <a:alpha val="12000"/>
              </a:srgbClr>
            </a:outerShdw>
          </a:effectLst>
        </p:spPr>
      </p:sp>
      <p:sp>
        <p:nvSpPr>
          <p:cNvPr id="19" name="Text 17"/>
          <p:cNvSpPr/>
          <p:nvPr/>
        </p:nvSpPr>
        <p:spPr>
          <a:xfrm>
            <a:off x="5614416" y="2276856"/>
            <a:ext cx="1426464" cy="256032"/>
          </a:xfrm>
          <a:prstGeom prst="rect">
            <a:avLst/>
          </a:prstGeom>
          <a:noFill/>
        </p:spPr>
        <p:txBody>
          <a:bodyPr wrap="square" rtlCol="0" anchor="ctr"/>
          <a:lstStyle/>
          <a:p>
            <a:pPr marL="0" indent="0">
              <a:buNone/>
            </a:pPr>
            <a:r>
              <a:rPr lang="en-US" sz="950" b="1" dirty="0">
                <a:solidFill>
                  <a:srgbClr val="065A82"/>
                </a:solidFill>
                <a:latin typeface="Cambria" panose="02040503050406030204" pitchFamily="34" charset="0"/>
                <a:ea typeface="Cambria" panose="02040503050406030204" pitchFamily="34" charset="-122"/>
                <a:cs typeface="Cambria" panose="02040503050406030204" pitchFamily="34" charset="-120"/>
              </a:rPr>
              <a:t>🌧️ Rainfall</a:t>
            </a:r>
            <a:endParaRPr lang="en-US" sz="950" dirty="0"/>
          </a:p>
        </p:txBody>
      </p:sp>
      <p:sp>
        <p:nvSpPr>
          <p:cNvPr id="20" name="Text 18"/>
          <p:cNvSpPr/>
          <p:nvPr/>
        </p:nvSpPr>
        <p:spPr>
          <a:xfrm>
            <a:off x="5614416" y="2542032"/>
            <a:ext cx="1426464" cy="246888"/>
          </a:xfrm>
          <a:prstGeom prst="rect">
            <a:avLst/>
          </a:prstGeom>
          <a:noFill/>
        </p:spPr>
        <p:txBody>
          <a:bodyPr wrap="square"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 More rain = better AQI</a:t>
            </a:r>
            <a:endParaRPr lang="en-US" sz="900" dirty="0"/>
          </a:p>
        </p:txBody>
      </p:sp>
      <p:sp>
        <p:nvSpPr>
          <p:cNvPr id="21" name="Shape 19"/>
          <p:cNvSpPr/>
          <p:nvPr/>
        </p:nvSpPr>
        <p:spPr>
          <a:xfrm>
            <a:off x="7214616" y="2249424"/>
            <a:ext cx="1554480" cy="566928"/>
          </a:xfrm>
          <a:prstGeom prst="roundRect">
            <a:avLst>
              <a:gd name="adj" fmla="val 12903"/>
            </a:avLst>
          </a:prstGeom>
          <a:solidFill>
            <a:srgbClr val="F0F9FB"/>
          </a:solidFill>
          <a:effectLst>
            <a:outerShdw blurRad="76200" dist="25400" dir="2700000" algn="bl" rotWithShape="0">
              <a:srgbClr val="000000">
                <a:alpha val="12000"/>
              </a:srgbClr>
            </a:outerShdw>
          </a:effectLst>
        </p:spPr>
      </p:sp>
      <p:sp>
        <p:nvSpPr>
          <p:cNvPr id="22" name="Text 20"/>
          <p:cNvSpPr/>
          <p:nvPr/>
        </p:nvSpPr>
        <p:spPr>
          <a:xfrm>
            <a:off x="7278624" y="2276856"/>
            <a:ext cx="1426464" cy="256032"/>
          </a:xfrm>
          <a:prstGeom prst="rect">
            <a:avLst/>
          </a:prstGeom>
          <a:noFill/>
        </p:spPr>
        <p:txBody>
          <a:bodyPr wrap="square" rtlCol="0" anchor="ctr"/>
          <a:lstStyle/>
          <a:p>
            <a:pPr marL="0" indent="0">
              <a:buNone/>
            </a:pPr>
            <a:r>
              <a:rPr lang="en-US" sz="950" b="1" dirty="0">
                <a:solidFill>
                  <a:srgbClr val="065A82"/>
                </a:solidFill>
                <a:latin typeface="Cambria" panose="02040503050406030204" pitchFamily="34" charset="0"/>
                <a:ea typeface="Cambria" panose="02040503050406030204" pitchFamily="34" charset="-122"/>
                <a:cs typeface="Cambria" panose="02040503050406030204" pitchFamily="34" charset="-120"/>
              </a:rPr>
              <a:t>💨 Wind Speed</a:t>
            </a:r>
            <a:endParaRPr lang="en-US" sz="950" dirty="0"/>
          </a:p>
        </p:txBody>
      </p:sp>
      <p:sp>
        <p:nvSpPr>
          <p:cNvPr id="23" name="Text 21"/>
          <p:cNvSpPr/>
          <p:nvPr/>
        </p:nvSpPr>
        <p:spPr>
          <a:xfrm>
            <a:off x="7278624" y="2542032"/>
            <a:ext cx="1426464" cy="246888"/>
          </a:xfrm>
          <a:prstGeom prst="rect">
            <a:avLst/>
          </a:prstGeom>
          <a:noFill/>
        </p:spPr>
        <p:txBody>
          <a:bodyPr wrap="square" rtlCol="0" anchor="ctr"/>
          <a:lstStyle/>
          <a:p>
            <a:pPr marL="0" indent="0">
              <a:buNone/>
            </a:pPr>
            <a:r>
              <a:rPr lang="en-US" sz="900" dirty="0">
                <a:solidFill>
                  <a:srgbClr val="64748B"/>
                </a:solidFill>
                <a:latin typeface="Calibri" panose="020F0502020204030204" pitchFamily="34" charset="0"/>
                <a:ea typeface="Calibri" panose="020F0502020204030204" pitchFamily="34" charset="-122"/>
                <a:cs typeface="Calibri" panose="020F0502020204030204" pitchFamily="34" charset="-120"/>
              </a:rPr>
              <a:t>↓ More wind = better AQI</a:t>
            </a:r>
            <a:endParaRPr lang="en-US" sz="900" dirty="0"/>
          </a:p>
        </p:txBody>
      </p:sp>
      <p:sp>
        <p:nvSpPr>
          <p:cNvPr id="24" name="Shape 22"/>
          <p:cNvSpPr/>
          <p:nvPr/>
        </p:nvSpPr>
        <p:spPr>
          <a:xfrm>
            <a:off x="5550408" y="2916936"/>
            <a:ext cx="3246120" cy="566928"/>
          </a:xfrm>
          <a:prstGeom prst="roundRect">
            <a:avLst>
              <a:gd name="adj" fmla="val 12903"/>
            </a:avLst>
          </a:prstGeom>
          <a:solidFill>
            <a:srgbClr val="F0F9FB"/>
          </a:solidFill>
          <a:effectLst>
            <a:outerShdw blurRad="76200" dist="25400" dir="2700000" algn="bl" rotWithShape="0">
              <a:srgbClr val="000000">
                <a:alpha val="12000"/>
              </a:srgbClr>
            </a:outerShdw>
          </a:effectLst>
        </p:spPr>
      </p:sp>
      <p:sp>
        <p:nvSpPr>
          <p:cNvPr id="25" name="Text 23"/>
          <p:cNvSpPr/>
          <p:nvPr/>
        </p:nvSpPr>
        <p:spPr>
          <a:xfrm>
            <a:off x="5641848" y="2944368"/>
            <a:ext cx="3063240" cy="256032"/>
          </a:xfrm>
          <a:prstGeom prst="rect">
            <a:avLst/>
          </a:prstGeom>
          <a:noFill/>
        </p:spPr>
        <p:txBody>
          <a:bodyPr wrap="square" rtlCol="0" anchor="ctr"/>
          <a:lstStyle/>
          <a:p>
            <a:pPr marL="0" indent="0">
              <a:buNone/>
            </a:pPr>
            <a:r>
              <a:rPr lang="en-US" sz="1100" b="1" dirty="0">
                <a:solidFill>
                  <a:srgbClr val="065A82"/>
                </a:solidFill>
                <a:latin typeface="Cambria" panose="02040503050406030204" pitchFamily="34" charset="0"/>
                <a:ea typeface="Cambria" panose="02040503050406030204" pitchFamily="34" charset="-122"/>
                <a:cs typeface="Cambria" panose="02040503050406030204" pitchFamily="34" charset="-120"/>
              </a:rPr>
              <a:t>💧 Humidity</a:t>
            </a:r>
            <a:endParaRPr lang="en-US" sz="1100" dirty="0"/>
          </a:p>
        </p:txBody>
      </p:sp>
      <p:sp>
        <p:nvSpPr>
          <p:cNvPr id="26" name="Text 24"/>
          <p:cNvSpPr/>
          <p:nvPr/>
        </p:nvSpPr>
        <p:spPr>
          <a:xfrm>
            <a:off x="5641848" y="3209544"/>
            <a:ext cx="3063240" cy="246888"/>
          </a:xfrm>
          <a:prstGeom prst="rect">
            <a:avLst/>
          </a:prstGeom>
          <a:noFill/>
        </p:spPr>
        <p:txBody>
          <a:bodyPr wrap="square" rtlCol="0" anchor="ctr"/>
          <a:lstStyle/>
          <a:p>
            <a:pPr marL="0" indent="0">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 High humidity worsens PM</a:t>
            </a:r>
            <a:endParaRPr lang="en-US" sz="1000" dirty="0"/>
          </a:p>
        </p:txBody>
      </p:sp>
      <p:sp>
        <p:nvSpPr>
          <p:cNvPr id="27" name="Text 25"/>
          <p:cNvSpPr/>
          <p:nvPr/>
        </p:nvSpPr>
        <p:spPr>
          <a:xfrm>
            <a:off x="320040" y="4224528"/>
            <a:ext cx="8412480" cy="411480"/>
          </a:xfrm>
          <a:prstGeom prst="rect">
            <a:avLst/>
          </a:prstGeom>
          <a:noFill/>
        </p:spPr>
        <p:txBody>
          <a:bodyPr wrap="square" rtlCol="0" anchor="ctr"/>
          <a:lstStyle/>
          <a:p>
            <a:pPr marL="0" indent="0">
              <a:buNone/>
            </a:pPr>
            <a:r>
              <a:rPr lang="en-US" sz="1100" i="1" dirty="0">
                <a:solidFill>
                  <a:srgbClr val="065A82"/>
                </a:solidFill>
                <a:latin typeface="Calibri" panose="020F0502020204030204" pitchFamily="34" charset="0"/>
                <a:ea typeface="Calibri" panose="020F0502020204030204" pitchFamily="34" charset="-122"/>
                <a:cs typeface="Calibri" panose="020F0502020204030204" pitchFamily="34" charset="-120"/>
              </a:rPr>
              <a:t>💡 Analysis: Bar charts comparing Avg AQI by AQI Category vs each driver clearly show higher traffic &amp; industrial activity corresponds to Poor/Very Poor AQI days.</a:t>
            </a:r>
            <a:endParaRPr lang="en-US" sz="1100" dirty="0"/>
          </a:p>
        </p:txBody>
      </p:sp>
      <p:sp>
        <p:nvSpPr>
          <p:cNvPr id="28" name="Shape 26"/>
          <p:cNvSpPr/>
          <p:nvPr/>
        </p:nvSpPr>
        <p:spPr>
          <a:xfrm>
            <a:off x="0" y="5070348"/>
            <a:ext cx="9144000" cy="73152"/>
          </a:xfrm>
          <a:prstGeom prst="rect">
            <a:avLst/>
          </a:prstGeom>
          <a:solidFill>
            <a:srgbClr val="065A82"/>
          </a:solidFill>
          <a:ln w="12700">
            <a:solidFill>
              <a:srgbClr val="065A82"/>
            </a:solidFill>
            <a:prstDash val="solid"/>
          </a:ln>
        </p:spPr>
      </p:sp>
      <p:pic>
        <p:nvPicPr>
          <p:cNvPr id="29" name="Picture 28" descr="Screenshot 2026-07-03 113942"/>
          <p:cNvPicPr>
            <a:picLocks noChangeAspect="1"/>
          </p:cNvPicPr>
          <p:nvPr/>
        </p:nvPicPr>
        <p:blipFill>
          <a:blip r:embed="rId1"/>
          <a:stretch>
            <a:fillRect/>
          </a:stretch>
        </p:blipFill>
        <p:spPr>
          <a:xfrm>
            <a:off x="372110" y="978535"/>
            <a:ext cx="4980940" cy="30429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6D2E46"/>
          </a:solidFill>
          <a:ln w="12700">
            <a:solidFill>
              <a:srgbClr val="6D2E46"/>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6D2E46"/>
                </a:solidFill>
                <a:latin typeface="Cambria" panose="02040503050406030204" pitchFamily="34" charset="0"/>
                <a:ea typeface="Cambria" panose="02040503050406030204" pitchFamily="34" charset="-122"/>
                <a:cs typeface="Cambria" panose="02040503050406030204" pitchFamily="34" charset="-120"/>
              </a:rPr>
              <a:t>Page </a:t>
            </a:r>
            <a:r>
              <a:rPr lang="en-IN" altLang="en-US" sz="2800" b="1" dirty="0">
                <a:solidFill>
                  <a:srgbClr val="6D2E46"/>
                </a:solidFill>
                <a:latin typeface="Cambria" panose="02040503050406030204" pitchFamily="34" charset="0"/>
                <a:ea typeface="Cambria" panose="02040503050406030204" pitchFamily="34" charset="-122"/>
                <a:cs typeface="Cambria" panose="02040503050406030204" pitchFamily="34" charset="-120"/>
              </a:rPr>
              <a:t>9 </a:t>
            </a:r>
            <a:r>
              <a:rPr lang="en-US" sz="2800" b="1" dirty="0">
                <a:solidFill>
                  <a:srgbClr val="6D2E46"/>
                </a:solidFill>
                <a:latin typeface="Cambria" panose="02040503050406030204" pitchFamily="34" charset="0"/>
                <a:ea typeface="Cambria" panose="02040503050406030204" pitchFamily="34" charset="-122"/>
                <a:cs typeface="Cambria" panose="02040503050406030204" pitchFamily="34" charset="-120"/>
              </a:rPr>
              <a:t>— Health</a:t>
            </a:r>
            <a:r>
              <a:rPr lang="en-IN" altLang="en-US" sz="2800" b="1" dirty="0">
                <a:solidFill>
                  <a:srgbClr val="6D2E46"/>
                </a:solidFill>
                <a:latin typeface="Cambria" panose="02040503050406030204" pitchFamily="34" charset="0"/>
                <a:ea typeface="Cambria" panose="02040503050406030204" pitchFamily="34" charset="-122"/>
                <a:cs typeface="Cambria" panose="02040503050406030204" pitchFamily="34" charset="-120"/>
              </a:rPr>
              <a:t> Advisory</a:t>
            </a:r>
            <a:endParaRPr lang="en-IN" altLang="en-US" sz="2800" b="1" dirty="0">
              <a:solidFill>
                <a:srgbClr val="6D2E46"/>
              </a:solidFill>
              <a:latin typeface="Cambria" panose="02040503050406030204" pitchFamily="34" charset="0"/>
              <a:ea typeface="Cambria" panose="02040503050406030204" pitchFamily="34" charset="-122"/>
              <a:cs typeface="Cambria" panose="02040503050406030204" pitchFamily="34" charset="-120"/>
            </a:endParaRPr>
          </a:p>
        </p:txBody>
      </p:sp>
      <p:sp>
        <p:nvSpPr>
          <p:cNvPr id="4" name="Shape 2"/>
          <p:cNvSpPr/>
          <p:nvPr/>
        </p:nvSpPr>
        <p:spPr>
          <a:xfrm>
            <a:off x="320040" y="914400"/>
            <a:ext cx="8235950" cy="2973070"/>
          </a:xfrm>
          <a:prstGeom prst="roundRect">
            <a:avLst>
              <a:gd name="adj" fmla="val 3333"/>
            </a:avLst>
          </a:prstGeom>
          <a:solidFill>
            <a:srgbClr val="F9E8ED"/>
          </a:solidFill>
          <a:effectLst>
            <a:outerShdw blurRad="76200" dist="25400" dir="2700000" algn="bl" rotWithShape="0">
              <a:srgbClr val="000000">
                <a:alpha val="12000"/>
              </a:srgbClr>
            </a:outerShdw>
          </a:effectLst>
        </p:spPr>
      </p:sp>
      <p:sp>
        <p:nvSpPr>
          <p:cNvPr id="5" name="Text 3"/>
          <p:cNvSpPr/>
          <p:nvPr/>
        </p:nvSpPr>
        <p:spPr>
          <a:xfrm>
            <a:off x="320040" y="914400"/>
            <a:ext cx="5029200" cy="2743200"/>
          </a:xfrm>
          <a:prstGeom prst="rect">
            <a:avLst/>
          </a:prstGeom>
          <a:noFill/>
        </p:spPr>
        <p:txBody>
          <a:bodyPr wrap="square" rtlCol="0" anchor="ctr"/>
          <a:lstStyle/>
          <a:p>
            <a:pPr marL="0" indent="0" algn="ctr">
              <a:buNone/>
            </a:pPr>
            <a:r>
              <a:rPr lang="en-US" sz="1300" i="1" dirty="0">
                <a:solidFill>
                  <a:srgbClr val="C08090"/>
                </a:solidFill>
                <a:latin typeface="Calibri" panose="020F0502020204030204" pitchFamily="34" charset="0"/>
                <a:ea typeface="Calibri" panose="020F0502020204030204" pitchFamily="34" charset="-122"/>
                <a:cs typeface="Calibri" panose="020F0502020204030204" pitchFamily="34" charset="-120"/>
              </a:rPr>
              <a:t>[ Insert Screenshot of Health Impact Page ]</a:t>
            </a:r>
            <a:endParaRPr lang="en-US" sz="1300" dirty="0"/>
          </a:p>
        </p:txBody>
      </p:sp>
      <p:sp>
        <p:nvSpPr>
          <p:cNvPr id="25" name="Text 23"/>
          <p:cNvSpPr/>
          <p:nvPr/>
        </p:nvSpPr>
        <p:spPr>
          <a:xfrm>
            <a:off x="7589520" y="3172968"/>
            <a:ext cx="1097280" cy="256032"/>
          </a:xfrm>
          <a:prstGeom prst="rect">
            <a:avLst/>
          </a:prstGeom>
          <a:noFill/>
        </p:spPr>
        <p:txBody>
          <a:bodyPr wrap="square" rtlCol="0" anchor="ctr"/>
          <a:lstStyle/>
          <a:p>
            <a:pPr marL="0" indent="0" algn="r">
              <a:buNone/>
            </a:pPr>
            <a:endParaRPr lang="en-US" sz="1100" dirty="0"/>
          </a:p>
        </p:txBody>
      </p:sp>
      <p:sp>
        <p:nvSpPr>
          <p:cNvPr id="26" name="Text 24"/>
          <p:cNvSpPr/>
          <p:nvPr/>
        </p:nvSpPr>
        <p:spPr>
          <a:xfrm>
            <a:off x="320040" y="3978275"/>
            <a:ext cx="8412480" cy="262255"/>
          </a:xfrm>
          <a:prstGeom prst="rect">
            <a:avLst/>
          </a:prstGeom>
          <a:noFill/>
        </p:spPr>
        <p:txBody>
          <a:bodyPr wrap="square" rtlCol="0" anchor="ctr"/>
          <a:lstStyle/>
          <a:p>
            <a:pPr marL="0" indent="0">
              <a:buNone/>
            </a:pPr>
            <a:r>
              <a:rPr lang="en-US" sz="1150" dirty="0">
                <a:solidFill>
                  <a:srgbClr val="6D2E46"/>
                </a:solidFill>
                <a:latin typeface="Calibri" panose="020F0502020204030204" pitchFamily="34" charset="0"/>
                <a:ea typeface="Calibri" panose="020F0502020204030204" pitchFamily="34" charset="-122"/>
                <a:cs typeface="Calibri" panose="020F0502020204030204" pitchFamily="34" charset="-120"/>
              </a:rPr>
              <a:t>Visuals: Health Advisory </a:t>
            </a:r>
            <a:r>
              <a:rPr lang="en-IN" altLang="en-US" sz="1150" dirty="0">
                <a:solidFill>
                  <a:srgbClr val="6D2E46"/>
                </a:solidFill>
                <a:latin typeface="Calibri" panose="020F0502020204030204" pitchFamily="34" charset="0"/>
                <a:ea typeface="Calibri" panose="020F0502020204030204" pitchFamily="34" charset="-122"/>
                <a:cs typeface="Calibri" panose="020F0502020204030204" pitchFamily="34" charset="-120"/>
              </a:rPr>
              <a:t>by City and Year</a:t>
            </a:r>
            <a:endParaRPr lang="en-IN" altLang="en-US" sz="1150" dirty="0">
              <a:solidFill>
                <a:srgbClr val="6D2E46"/>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320040" y="4251960"/>
            <a:ext cx="8412480" cy="411480"/>
          </a:xfrm>
          <a:prstGeom prst="rect">
            <a:avLst/>
          </a:prstGeom>
          <a:noFill/>
        </p:spPr>
        <p:txBody>
          <a:bodyPr wrap="square" rtlCol="0" anchor="ctr"/>
          <a:lstStyle/>
          <a:p>
            <a:pPr marL="0" indent="0">
              <a:buNone/>
            </a:pPr>
            <a:r>
              <a:rPr lang="en-US" sz="1100" i="1" dirty="0">
                <a:solidFill>
                  <a:srgbClr val="64748B"/>
                </a:solidFill>
                <a:latin typeface="Calibri" panose="020F0502020204030204" pitchFamily="34" charset="0"/>
                <a:ea typeface="Calibri" panose="020F0502020204030204" pitchFamily="34" charset="-122"/>
                <a:cs typeface="Calibri" panose="020F0502020204030204" pitchFamily="34" charset="-120"/>
              </a:rPr>
              <a:t>💡 Key Insight: This analysis identifies which cities experience the most hazardous air days and which populations are most at risk.</a:t>
            </a:r>
            <a:endParaRPr lang="en-US" sz="1100" dirty="0"/>
          </a:p>
        </p:txBody>
      </p:sp>
      <p:sp>
        <p:nvSpPr>
          <p:cNvPr id="28" name="Shape 26"/>
          <p:cNvSpPr/>
          <p:nvPr/>
        </p:nvSpPr>
        <p:spPr>
          <a:xfrm>
            <a:off x="0" y="5070348"/>
            <a:ext cx="9144000" cy="73152"/>
          </a:xfrm>
          <a:prstGeom prst="rect">
            <a:avLst/>
          </a:prstGeom>
          <a:solidFill>
            <a:srgbClr val="6D2E46"/>
          </a:solidFill>
          <a:ln w="12700">
            <a:solidFill>
              <a:srgbClr val="6D2E46"/>
            </a:solidFill>
            <a:prstDash val="solid"/>
          </a:ln>
        </p:spPr>
      </p:sp>
      <p:pic>
        <p:nvPicPr>
          <p:cNvPr id="29" name="Picture 28" descr="Screenshot 2026-07-03 114044"/>
          <p:cNvPicPr>
            <a:picLocks noChangeAspect="1"/>
          </p:cNvPicPr>
          <p:nvPr/>
        </p:nvPicPr>
        <p:blipFill>
          <a:blip r:embed="rId1"/>
          <a:stretch>
            <a:fillRect/>
          </a:stretch>
        </p:blipFill>
        <p:spPr>
          <a:xfrm>
            <a:off x="723265" y="978535"/>
            <a:ext cx="6716395" cy="2875280"/>
          </a:xfrm>
          <a:prstGeom prst="rect">
            <a:avLst/>
          </a:prstGeom>
        </p:spPr>
      </p:pic>
      <p:sp>
        <p:nvSpPr>
          <p:cNvPr id="30" name="Text Box 29"/>
          <p:cNvSpPr txBox="1"/>
          <p:nvPr/>
        </p:nvSpPr>
        <p:spPr>
          <a:xfrm>
            <a:off x="7178040" y="960120"/>
            <a:ext cx="1377315" cy="2633345"/>
          </a:xfrm>
          <a:prstGeom prst="rect">
            <a:avLst/>
          </a:prstGeom>
          <a:noFill/>
        </p:spPr>
        <p:txBody>
          <a:bodyPr vert="eaVert" wrap="square" rtlCol="0">
            <a:noAutofit/>
          </a:bodyPr>
          <a:p>
            <a:endParaRPr lang="en-US"/>
          </a:p>
        </p:txBody>
      </p:sp>
      <p:sp>
        <p:nvSpPr>
          <p:cNvPr id="31" name="Text Box 30"/>
          <p:cNvSpPr txBox="1"/>
          <p:nvPr/>
        </p:nvSpPr>
        <p:spPr>
          <a:xfrm>
            <a:off x="1445895" y="4837430"/>
            <a:ext cx="459740" cy="1714500"/>
          </a:xfrm>
          <a:prstGeom prst="rect">
            <a:avLst/>
          </a:prstGeom>
          <a:noFill/>
        </p:spPr>
        <p:txBody>
          <a:bodyPr vert="eaVert" wrap="square" rtlCol="0">
            <a:spAutoFit/>
          </a:bodyPr>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C7293"/>
          </a:solidFill>
          <a:ln w="12700">
            <a:solidFill>
              <a:srgbClr val="1C7293"/>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1C7293"/>
                </a:solidFill>
                <a:latin typeface="Cambria" panose="02040503050406030204" pitchFamily="34" charset="0"/>
                <a:ea typeface="Cambria" panose="02040503050406030204" pitchFamily="34" charset="-122"/>
                <a:cs typeface="Cambria" panose="02040503050406030204" pitchFamily="34" charset="-120"/>
              </a:rPr>
              <a:t>Key DAX Measures Used</a:t>
            </a:r>
            <a:endParaRPr lang="en-US" sz="2800" dirty="0"/>
          </a:p>
        </p:txBody>
      </p:sp>
      <p:sp>
        <p:nvSpPr>
          <p:cNvPr id="4" name="Shape 2"/>
          <p:cNvSpPr/>
          <p:nvPr/>
        </p:nvSpPr>
        <p:spPr>
          <a:xfrm>
            <a:off x="320040" y="932688"/>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5" name="Text 3"/>
          <p:cNvSpPr/>
          <p:nvPr/>
        </p:nvSpPr>
        <p:spPr>
          <a:xfrm>
            <a:off x="457200" y="978408"/>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Avg AQI</a:t>
            </a:r>
            <a:endParaRPr lang="en-US" sz="1200" dirty="0"/>
          </a:p>
        </p:txBody>
      </p:sp>
      <p:sp>
        <p:nvSpPr>
          <p:cNvPr id="6" name="Text 4"/>
          <p:cNvSpPr/>
          <p:nvPr/>
        </p:nvSpPr>
        <p:spPr>
          <a:xfrm>
            <a:off x="457200" y="1280160"/>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AVERAGE(AQI_Data[AQI])</a:t>
            </a:r>
            <a:endParaRPr lang="en-US" sz="1000" dirty="0"/>
          </a:p>
        </p:txBody>
      </p:sp>
      <p:sp>
        <p:nvSpPr>
          <p:cNvPr id="7" name="Shape 5"/>
          <p:cNvSpPr/>
          <p:nvPr/>
        </p:nvSpPr>
        <p:spPr>
          <a:xfrm>
            <a:off x="4663440" y="932688"/>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8" name="Text 6"/>
          <p:cNvSpPr/>
          <p:nvPr/>
        </p:nvSpPr>
        <p:spPr>
          <a:xfrm>
            <a:off x="4800600" y="978408"/>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Total Records</a:t>
            </a:r>
            <a:endParaRPr lang="en-US" sz="1200" dirty="0"/>
          </a:p>
        </p:txBody>
      </p:sp>
      <p:sp>
        <p:nvSpPr>
          <p:cNvPr id="9" name="Text 7"/>
          <p:cNvSpPr/>
          <p:nvPr/>
        </p:nvSpPr>
        <p:spPr>
          <a:xfrm>
            <a:off x="4800600" y="1280160"/>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COUNTROWS(AQI_Data)</a:t>
            </a:r>
            <a:endParaRPr lang="en-US" sz="1000" dirty="0"/>
          </a:p>
        </p:txBody>
      </p:sp>
      <p:sp>
        <p:nvSpPr>
          <p:cNvPr id="10" name="Shape 8"/>
          <p:cNvSpPr/>
          <p:nvPr/>
        </p:nvSpPr>
        <p:spPr>
          <a:xfrm>
            <a:off x="320040" y="1682496"/>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11" name="Text 9"/>
          <p:cNvSpPr/>
          <p:nvPr/>
        </p:nvSpPr>
        <p:spPr>
          <a:xfrm>
            <a:off x="457200" y="1728216"/>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Total Cities</a:t>
            </a:r>
            <a:endParaRPr lang="en-US" sz="1200" dirty="0"/>
          </a:p>
        </p:txBody>
      </p:sp>
      <p:sp>
        <p:nvSpPr>
          <p:cNvPr id="12" name="Text 10"/>
          <p:cNvSpPr/>
          <p:nvPr/>
        </p:nvSpPr>
        <p:spPr>
          <a:xfrm>
            <a:off x="457200" y="2029968"/>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DISTINCTCOUNT(AQI_Data[City])</a:t>
            </a:r>
            <a:endParaRPr lang="en-US" sz="1000" dirty="0"/>
          </a:p>
        </p:txBody>
      </p:sp>
      <p:sp>
        <p:nvSpPr>
          <p:cNvPr id="13" name="Shape 11"/>
          <p:cNvSpPr/>
          <p:nvPr/>
        </p:nvSpPr>
        <p:spPr>
          <a:xfrm>
            <a:off x="4663440" y="1682496"/>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14" name="Text 12"/>
          <p:cNvSpPr/>
          <p:nvPr/>
        </p:nvSpPr>
        <p:spPr>
          <a:xfrm>
            <a:off x="4800600" y="1728216"/>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AQI Rank</a:t>
            </a:r>
            <a:endParaRPr lang="en-US" sz="1200" dirty="0"/>
          </a:p>
        </p:txBody>
      </p:sp>
      <p:sp>
        <p:nvSpPr>
          <p:cNvPr id="15" name="Text 13"/>
          <p:cNvSpPr/>
          <p:nvPr/>
        </p:nvSpPr>
        <p:spPr>
          <a:xfrm>
            <a:off x="4800600" y="2029968"/>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RANKX(ALL(AQI_Data[City]), [Avg AQI], , DESC)</a:t>
            </a:r>
            <a:endParaRPr lang="en-US" sz="1000" dirty="0"/>
          </a:p>
        </p:txBody>
      </p:sp>
      <p:sp>
        <p:nvSpPr>
          <p:cNvPr id="16" name="Shape 14"/>
          <p:cNvSpPr/>
          <p:nvPr/>
        </p:nvSpPr>
        <p:spPr>
          <a:xfrm>
            <a:off x="320040" y="2432304"/>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17" name="Text 15"/>
          <p:cNvSpPr/>
          <p:nvPr/>
        </p:nvSpPr>
        <p:spPr>
          <a:xfrm>
            <a:off x="457200" y="2478024"/>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Avg PM2_5</a:t>
            </a:r>
            <a:endParaRPr lang="en-US" sz="1200" dirty="0"/>
          </a:p>
        </p:txBody>
      </p:sp>
      <p:sp>
        <p:nvSpPr>
          <p:cNvPr id="18" name="Text 16"/>
          <p:cNvSpPr/>
          <p:nvPr/>
        </p:nvSpPr>
        <p:spPr>
          <a:xfrm>
            <a:off x="457200" y="2779776"/>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AVERAGE(AQI_Data[PM2_5])</a:t>
            </a:r>
            <a:endParaRPr lang="en-US" sz="1000" dirty="0"/>
          </a:p>
        </p:txBody>
      </p:sp>
      <p:sp>
        <p:nvSpPr>
          <p:cNvPr id="19" name="Shape 17"/>
          <p:cNvSpPr/>
          <p:nvPr/>
        </p:nvSpPr>
        <p:spPr>
          <a:xfrm>
            <a:off x="4663440" y="2432304"/>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20" name="Text 18"/>
          <p:cNvSpPr/>
          <p:nvPr/>
        </p:nvSpPr>
        <p:spPr>
          <a:xfrm>
            <a:off x="4800600" y="2478024"/>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PM Ratio</a:t>
            </a:r>
            <a:endParaRPr lang="en-US" sz="1200" dirty="0"/>
          </a:p>
        </p:txBody>
      </p:sp>
      <p:sp>
        <p:nvSpPr>
          <p:cNvPr id="21" name="Text 19"/>
          <p:cNvSpPr/>
          <p:nvPr/>
        </p:nvSpPr>
        <p:spPr>
          <a:xfrm>
            <a:off x="4800600" y="2779776"/>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DIVIDE(AVERAGE(AQI_Data[PM2_5]), AVERAGE(AQI_Data[PM10]))</a:t>
            </a:r>
            <a:endParaRPr lang="en-US" sz="1000" dirty="0"/>
          </a:p>
        </p:txBody>
      </p:sp>
      <p:sp>
        <p:nvSpPr>
          <p:cNvPr id="22" name="Shape 20"/>
          <p:cNvSpPr/>
          <p:nvPr/>
        </p:nvSpPr>
        <p:spPr>
          <a:xfrm>
            <a:off x="320040" y="3182112"/>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23" name="Text 21"/>
          <p:cNvSpPr/>
          <p:nvPr/>
        </p:nvSpPr>
        <p:spPr>
          <a:xfrm>
            <a:off x="457200" y="3227832"/>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AQI PY</a:t>
            </a:r>
            <a:endParaRPr lang="en-US" sz="1200" dirty="0"/>
          </a:p>
        </p:txBody>
      </p:sp>
      <p:sp>
        <p:nvSpPr>
          <p:cNvPr id="24" name="Text 22"/>
          <p:cNvSpPr/>
          <p:nvPr/>
        </p:nvSpPr>
        <p:spPr>
          <a:xfrm>
            <a:off x="457200" y="3529584"/>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CALCULATE([Avg AQI], SAMEPERIODLASTYEAR(DateTable[Date]))</a:t>
            </a:r>
            <a:endParaRPr lang="en-US" sz="1000" dirty="0"/>
          </a:p>
        </p:txBody>
      </p:sp>
      <p:sp>
        <p:nvSpPr>
          <p:cNvPr id="25" name="Shape 23"/>
          <p:cNvSpPr/>
          <p:nvPr/>
        </p:nvSpPr>
        <p:spPr>
          <a:xfrm>
            <a:off x="4663440" y="3182112"/>
            <a:ext cx="41605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26" name="Text 24"/>
          <p:cNvSpPr/>
          <p:nvPr/>
        </p:nvSpPr>
        <p:spPr>
          <a:xfrm>
            <a:off x="4800600" y="3227832"/>
            <a:ext cx="38404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AQI YoY %</a:t>
            </a:r>
            <a:endParaRPr lang="en-US" sz="1200" dirty="0"/>
          </a:p>
        </p:txBody>
      </p:sp>
      <p:sp>
        <p:nvSpPr>
          <p:cNvPr id="27" name="Text 25"/>
          <p:cNvSpPr/>
          <p:nvPr/>
        </p:nvSpPr>
        <p:spPr>
          <a:xfrm>
            <a:off x="4800600" y="3529584"/>
            <a:ext cx="3840480" cy="256032"/>
          </a:xfrm>
          <a:prstGeom prst="rect">
            <a:avLst/>
          </a:prstGeom>
          <a:noFill/>
        </p:spPr>
        <p:txBody>
          <a:bodyPr wrap="square" rtlCol="0" anchor="ctr"/>
          <a:lstStyle/>
          <a:p>
            <a:pPr marL="0" indent="0">
              <a:buNone/>
            </a:pPr>
            <a:r>
              <a:rPr lang="en-US" sz="10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DIVIDE([Avg AQI] - [AQI PY], [AQI PY])</a:t>
            </a:r>
            <a:endParaRPr lang="en-US" sz="1000" dirty="0"/>
          </a:p>
        </p:txBody>
      </p:sp>
      <p:sp>
        <p:nvSpPr>
          <p:cNvPr id="28" name="Shape 26"/>
          <p:cNvSpPr/>
          <p:nvPr/>
        </p:nvSpPr>
        <p:spPr>
          <a:xfrm>
            <a:off x="320040" y="3931920"/>
            <a:ext cx="8503920" cy="658368"/>
          </a:xfrm>
          <a:prstGeom prst="roundRect">
            <a:avLst>
              <a:gd name="adj" fmla="val 11111"/>
            </a:avLst>
          </a:prstGeom>
          <a:solidFill>
            <a:srgbClr val="F0F9FB"/>
          </a:solidFill>
          <a:effectLst>
            <a:outerShdw blurRad="76200" dist="25400" dir="2700000" algn="bl" rotWithShape="0">
              <a:srgbClr val="000000">
                <a:alpha val="12000"/>
              </a:srgbClr>
            </a:outerShdw>
          </a:effectLst>
        </p:spPr>
      </p:sp>
      <p:sp>
        <p:nvSpPr>
          <p:cNvPr id="29" name="Text 27"/>
          <p:cNvSpPr/>
          <p:nvPr/>
        </p:nvSpPr>
        <p:spPr>
          <a:xfrm>
            <a:off x="457200" y="3977640"/>
            <a:ext cx="2011680" cy="274320"/>
          </a:xfrm>
          <a:prstGeom prst="rect">
            <a:avLst/>
          </a:prstGeom>
          <a:noFill/>
        </p:spPr>
        <p:txBody>
          <a:bodyPr wrap="square" rtlCol="0" anchor="ctr"/>
          <a:lstStyle/>
          <a:p>
            <a:pPr marL="0" indent="0">
              <a:buNone/>
            </a:pPr>
            <a:r>
              <a:rPr lang="en-US" sz="1200" b="1" dirty="0">
                <a:solidFill>
                  <a:srgbClr val="1C7293"/>
                </a:solidFill>
                <a:latin typeface="Cambria" panose="02040503050406030204" pitchFamily="34" charset="0"/>
                <a:ea typeface="Cambria" panose="02040503050406030204" pitchFamily="34" charset="-122"/>
                <a:cs typeface="Cambria" panose="02040503050406030204" pitchFamily="34" charset="-120"/>
              </a:rPr>
              <a:t>Severe Days</a:t>
            </a:r>
            <a:endParaRPr lang="en-US" sz="1200" dirty="0"/>
          </a:p>
        </p:txBody>
      </p:sp>
      <p:sp>
        <p:nvSpPr>
          <p:cNvPr id="30" name="Text 28"/>
          <p:cNvSpPr/>
          <p:nvPr/>
        </p:nvSpPr>
        <p:spPr>
          <a:xfrm>
            <a:off x="457200" y="4279392"/>
            <a:ext cx="8229600" cy="256032"/>
          </a:xfrm>
          <a:prstGeom prst="rect">
            <a:avLst/>
          </a:prstGeom>
          <a:noFill/>
        </p:spPr>
        <p:txBody>
          <a:bodyPr wrap="square" rtlCol="0" anchor="ctr"/>
          <a:lstStyle/>
          <a:p>
            <a:pPr marL="0" indent="0">
              <a:buNone/>
            </a:pPr>
            <a:r>
              <a:rPr lang="en-US" sz="1100" dirty="0">
                <a:solidFill>
                  <a:srgbClr val="1E293B"/>
                </a:solidFill>
                <a:latin typeface="Courier New" panose="02070309020205020404" pitchFamily="34" charset="0"/>
                <a:ea typeface="Courier New" panose="02070309020205020404" pitchFamily="34" charset="-122"/>
                <a:cs typeface="Courier New" panose="02070309020205020404" pitchFamily="34" charset="-120"/>
              </a:rPr>
              <a:t>= CALCULATE(COUNTROWS(AQI_Data), AQI_Data[AQI_Category] IN {"Severe","Very Poor"})</a:t>
            </a:r>
            <a:endParaRPr lang="en-US" sz="1100" dirty="0"/>
          </a:p>
        </p:txBody>
      </p:sp>
      <p:sp>
        <p:nvSpPr>
          <p:cNvPr id="31" name="Shape 29"/>
          <p:cNvSpPr/>
          <p:nvPr/>
        </p:nvSpPr>
        <p:spPr>
          <a:xfrm>
            <a:off x="0" y="5070348"/>
            <a:ext cx="9144000" cy="73152"/>
          </a:xfrm>
          <a:prstGeom prst="rect">
            <a:avLst/>
          </a:prstGeom>
          <a:solidFill>
            <a:srgbClr val="1C7293"/>
          </a:solidFill>
          <a:ln w="12700">
            <a:solidFill>
              <a:srgbClr val="1C7293"/>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3000" b="1" dirty="0">
                <a:solidFill>
                  <a:srgbClr val="065A82"/>
                </a:solidFill>
                <a:latin typeface="Cambria" panose="02040503050406030204" pitchFamily="34" charset="0"/>
                <a:ea typeface="Cambria" panose="02040503050406030204" pitchFamily="34" charset="-122"/>
                <a:cs typeface="Cambria" panose="02040503050406030204" pitchFamily="34" charset="-120"/>
              </a:rPr>
              <a:t>Key Findings</a:t>
            </a:r>
            <a:endParaRPr lang="en-US" sz="3000" dirty="0"/>
          </a:p>
        </p:txBody>
      </p:sp>
      <p:sp>
        <p:nvSpPr>
          <p:cNvPr id="4" name="Shape 2"/>
          <p:cNvSpPr/>
          <p:nvPr/>
        </p:nvSpPr>
        <p:spPr>
          <a:xfrm>
            <a:off x="320040" y="93268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5" name="Shape 3"/>
          <p:cNvSpPr/>
          <p:nvPr/>
        </p:nvSpPr>
        <p:spPr>
          <a:xfrm>
            <a:off x="429768" y="1188720"/>
            <a:ext cx="457200" cy="457200"/>
          </a:xfrm>
          <a:prstGeom prst="ellipse">
            <a:avLst/>
          </a:prstGeom>
          <a:solidFill>
            <a:srgbClr val="02C39A"/>
          </a:solidFill>
          <a:ln w="12700">
            <a:solidFill>
              <a:srgbClr val="02C39A"/>
            </a:solidFill>
            <a:prstDash val="solid"/>
          </a:ln>
        </p:spPr>
      </p:sp>
      <p:sp>
        <p:nvSpPr>
          <p:cNvPr id="6" name="Text 4"/>
          <p:cNvSpPr/>
          <p:nvPr/>
        </p:nvSpPr>
        <p:spPr>
          <a:xfrm>
            <a:off x="429768" y="118872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01</a:t>
            </a:r>
            <a:endParaRPr lang="en-US" sz="1100" dirty="0"/>
          </a:p>
        </p:txBody>
      </p:sp>
      <p:sp>
        <p:nvSpPr>
          <p:cNvPr id="7" name="Text 5"/>
          <p:cNvSpPr/>
          <p:nvPr/>
        </p:nvSpPr>
        <p:spPr>
          <a:xfrm>
            <a:off x="987552" y="100584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All Cities in Poor Category</a:t>
            </a:r>
            <a:endParaRPr lang="en-US" sz="1300" dirty="0"/>
          </a:p>
        </p:txBody>
      </p:sp>
      <p:sp>
        <p:nvSpPr>
          <p:cNvPr id="8" name="Text 6"/>
          <p:cNvSpPr/>
          <p:nvPr/>
        </p:nvSpPr>
        <p:spPr>
          <a:xfrm>
            <a:off x="987552" y="138988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Average AQI across all 12 cities is ~242, placing all cities in the Poor AQI category.</a:t>
            </a:r>
            <a:endParaRPr lang="en-US" sz="1150" dirty="0"/>
          </a:p>
        </p:txBody>
      </p:sp>
      <p:sp>
        <p:nvSpPr>
          <p:cNvPr id="9" name="Shape 7"/>
          <p:cNvSpPr/>
          <p:nvPr/>
        </p:nvSpPr>
        <p:spPr>
          <a:xfrm>
            <a:off x="4754880" y="93268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10" name="Shape 8"/>
          <p:cNvSpPr/>
          <p:nvPr/>
        </p:nvSpPr>
        <p:spPr>
          <a:xfrm>
            <a:off x="4864608" y="1188720"/>
            <a:ext cx="457200" cy="457200"/>
          </a:xfrm>
          <a:prstGeom prst="ellipse">
            <a:avLst/>
          </a:prstGeom>
          <a:solidFill>
            <a:srgbClr val="02C39A"/>
          </a:solidFill>
          <a:ln w="12700">
            <a:solidFill>
              <a:srgbClr val="02C39A"/>
            </a:solidFill>
            <a:prstDash val="solid"/>
          </a:ln>
        </p:spPr>
      </p:sp>
      <p:sp>
        <p:nvSpPr>
          <p:cNvPr id="11" name="Text 9"/>
          <p:cNvSpPr/>
          <p:nvPr/>
        </p:nvSpPr>
        <p:spPr>
          <a:xfrm>
            <a:off x="4864608" y="118872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02</a:t>
            </a:r>
            <a:endParaRPr lang="en-US" sz="1100" dirty="0"/>
          </a:p>
        </p:txBody>
      </p:sp>
      <p:sp>
        <p:nvSpPr>
          <p:cNvPr id="12" name="Text 10"/>
          <p:cNvSpPr/>
          <p:nvPr/>
        </p:nvSpPr>
        <p:spPr>
          <a:xfrm>
            <a:off x="5422392" y="100584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Patna Most Polluted</a:t>
            </a:r>
            <a:endParaRPr lang="en-US" sz="1300" dirty="0"/>
          </a:p>
        </p:txBody>
      </p:sp>
      <p:sp>
        <p:nvSpPr>
          <p:cNvPr id="13" name="Text 11"/>
          <p:cNvSpPr/>
          <p:nvPr/>
        </p:nvSpPr>
        <p:spPr>
          <a:xfrm>
            <a:off x="5422392" y="138988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Patna ranks #1 with highest average AQI (~247), while Chandigarh is the cleanest (~237).</a:t>
            </a:r>
            <a:endParaRPr lang="en-US" sz="1150" dirty="0"/>
          </a:p>
        </p:txBody>
      </p:sp>
      <p:sp>
        <p:nvSpPr>
          <p:cNvPr id="14" name="Shape 12"/>
          <p:cNvSpPr/>
          <p:nvPr/>
        </p:nvSpPr>
        <p:spPr>
          <a:xfrm>
            <a:off x="320040" y="225856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15" name="Shape 13"/>
          <p:cNvSpPr/>
          <p:nvPr/>
        </p:nvSpPr>
        <p:spPr>
          <a:xfrm>
            <a:off x="429768" y="2514600"/>
            <a:ext cx="457200" cy="457200"/>
          </a:xfrm>
          <a:prstGeom prst="ellipse">
            <a:avLst/>
          </a:prstGeom>
          <a:solidFill>
            <a:srgbClr val="02C39A"/>
          </a:solidFill>
          <a:ln w="12700">
            <a:solidFill>
              <a:srgbClr val="02C39A"/>
            </a:solidFill>
            <a:prstDash val="solid"/>
          </a:ln>
        </p:spPr>
      </p:sp>
      <p:sp>
        <p:nvSpPr>
          <p:cNvPr id="16" name="Text 14"/>
          <p:cNvSpPr/>
          <p:nvPr/>
        </p:nvSpPr>
        <p:spPr>
          <a:xfrm>
            <a:off x="429768" y="251460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03</a:t>
            </a:r>
            <a:endParaRPr lang="en-US" sz="1100" dirty="0"/>
          </a:p>
        </p:txBody>
      </p:sp>
      <p:sp>
        <p:nvSpPr>
          <p:cNvPr id="17" name="Text 15"/>
          <p:cNvSpPr/>
          <p:nvPr/>
        </p:nvSpPr>
        <p:spPr>
          <a:xfrm>
            <a:off x="987552" y="233172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PM10 &amp; PM2_5 Dominate</a:t>
            </a:r>
            <a:endParaRPr lang="en-US" sz="1300" dirty="0"/>
          </a:p>
        </p:txBody>
      </p:sp>
      <p:sp>
        <p:nvSpPr>
          <p:cNvPr id="18" name="Text 16"/>
          <p:cNvSpPr/>
          <p:nvPr/>
        </p:nvSpPr>
        <p:spPr>
          <a:xfrm>
            <a:off x="987552" y="271576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Particulate matter (PM10, PM2_5) is the primary pollutant across all cities and seasons.</a:t>
            </a:r>
            <a:endParaRPr lang="en-US" sz="1150" dirty="0"/>
          </a:p>
        </p:txBody>
      </p:sp>
      <p:sp>
        <p:nvSpPr>
          <p:cNvPr id="19" name="Shape 17"/>
          <p:cNvSpPr/>
          <p:nvPr/>
        </p:nvSpPr>
        <p:spPr>
          <a:xfrm>
            <a:off x="4754880" y="225856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20" name="Shape 18"/>
          <p:cNvSpPr/>
          <p:nvPr/>
        </p:nvSpPr>
        <p:spPr>
          <a:xfrm>
            <a:off x="4864608" y="2514600"/>
            <a:ext cx="457200" cy="457200"/>
          </a:xfrm>
          <a:prstGeom prst="ellipse">
            <a:avLst/>
          </a:prstGeom>
          <a:solidFill>
            <a:srgbClr val="02C39A"/>
          </a:solidFill>
          <a:ln w="12700">
            <a:solidFill>
              <a:srgbClr val="02C39A"/>
            </a:solidFill>
            <a:prstDash val="solid"/>
          </a:ln>
        </p:spPr>
      </p:sp>
      <p:sp>
        <p:nvSpPr>
          <p:cNvPr id="21" name="Text 19"/>
          <p:cNvSpPr/>
          <p:nvPr/>
        </p:nvSpPr>
        <p:spPr>
          <a:xfrm>
            <a:off x="4864608" y="251460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04</a:t>
            </a:r>
            <a:endParaRPr lang="en-US" sz="1100" dirty="0"/>
          </a:p>
        </p:txBody>
      </p:sp>
      <p:sp>
        <p:nvSpPr>
          <p:cNvPr id="22" name="Text 20"/>
          <p:cNvSpPr/>
          <p:nvPr/>
        </p:nvSpPr>
        <p:spPr>
          <a:xfrm>
            <a:off x="5422392" y="233172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Season Impact Limited</a:t>
            </a:r>
            <a:endParaRPr lang="en-US" sz="1300" dirty="0"/>
          </a:p>
        </p:txBody>
      </p:sp>
      <p:sp>
        <p:nvSpPr>
          <p:cNvPr id="23" name="Text 21"/>
          <p:cNvSpPr/>
          <p:nvPr/>
        </p:nvSpPr>
        <p:spPr>
          <a:xfrm>
            <a:off x="5422392" y="271576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Dataset shows uniform AQI across seasons; real-world data would show Winter being worst.</a:t>
            </a:r>
            <a:endParaRPr lang="en-US" sz="1150" dirty="0"/>
          </a:p>
        </p:txBody>
      </p:sp>
      <p:sp>
        <p:nvSpPr>
          <p:cNvPr id="24" name="Shape 22"/>
          <p:cNvSpPr/>
          <p:nvPr/>
        </p:nvSpPr>
        <p:spPr>
          <a:xfrm>
            <a:off x="320040" y="358444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25" name="Shape 23"/>
          <p:cNvSpPr/>
          <p:nvPr/>
        </p:nvSpPr>
        <p:spPr>
          <a:xfrm>
            <a:off x="429768" y="3840480"/>
            <a:ext cx="457200" cy="457200"/>
          </a:xfrm>
          <a:prstGeom prst="ellipse">
            <a:avLst/>
          </a:prstGeom>
          <a:solidFill>
            <a:srgbClr val="02C39A"/>
          </a:solidFill>
          <a:ln w="12700">
            <a:solidFill>
              <a:srgbClr val="02C39A"/>
            </a:solidFill>
            <a:prstDash val="solid"/>
          </a:ln>
        </p:spPr>
      </p:sp>
      <p:sp>
        <p:nvSpPr>
          <p:cNvPr id="26" name="Text 24"/>
          <p:cNvSpPr/>
          <p:nvPr/>
        </p:nvSpPr>
        <p:spPr>
          <a:xfrm>
            <a:off x="429768" y="384048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05</a:t>
            </a:r>
            <a:endParaRPr lang="en-US" sz="1100" dirty="0"/>
          </a:p>
        </p:txBody>
      </p:sp>
      <p:sp>
        <p:nvSpPr>
          <p:cNvPr id="27" name="Text 25"/>
          <p:cNvSpPr/>
          <p:nvPr/>
        </p:nvSpPr>
        <p:spPr>
          <a:xfrm>
            <a:off x="987552" y="365760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Traffic &amp; Industry Key Drivers</a:t>
            </a:r>
            <a:endParaRPr lang="en-US" sz="1300" dirty="0"/>
          </a:p>
        </p:txBody>
      </p:sp>
      <p:sp>
        <p:nvSpPr>
          <p:cNvPr id="28" name="Text 26"/>
          <p:cNvSpPr/>
          <p:nvPr/>
        </p:nvSpPr>
        <p:spPr>
          <a:xfrm>
            <a:off x="987552" y="404164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Higher Traffic Index and Industrial Index consistently correspond to higher AQI categories.</a:t>
            </a:r>
            <a:endParaRPr lang="en-US" sz="1150" dirty="0"/>
          </a:p>
        </p:txBody>
      </p:sp>
      <p:sp>
        <p:nvSpPr>
          <p:cNvPr id="29" name="Shape 27"/>
          <p:cNvSpPr/>
          <p:nvPr/>
        </p:nvSpPr>
        <p:spPr>
          <a:xfrm>
            <a:off x="4754880" y="3584448"/>
            <a:ext cx="4206240" cy="1207008"/>
          </a:xfrm>
          <a:prstGeom prst="roundRect">
            <a:avLst>
              <a:gd name="adj" fmla="val 7576"/>
            </a:avLst>
          </a:prstGeom>
          <a:solidFill>
            <a:srgbClr val="F0F9FB"/>
          </a:solidFill>
          <a:effectLst>
            <a:outerShdw blurRad="76200" dist="25400" dir="2700000" algn="bl" rotWithShape="0">
              <a:srgbClr val="000000">
                <a:alpha val="12000"/>
              </a:srgbClr>
            </a:outerShdw>
          </a:effectLst>
        </p:spPr>
      </p:sp>
      <p:sp>
        <p:nvSpPr>
          <p:cNvPr id="30" name="Shape 28"/>
          <p:cNvSpPr/>
          <p:nvPr/>
        </p:nvSpPr>
        <p:spPr>
          <a:xfrm>
            <a:off x="4864608" y="3840480"/>
            <a:ext cx="457200" cy="457200"/>
          </a:xfrm>
          <a:prstGeom prst="ellipse">
            <a:avLst/>
          </a:prstGeom>
          <a:solidFill>
            <a:srgbClr val="02C39A"/>
          </a:solidFill>
          <a:ln w="12700">
            <a:solidFill>
              <a:srgbClr val="02C39A"/>
            </a:solidFill>
            <a:prstDash val="solid"/>
          </a:ln>
        </p:spPr>
      </p:sp>
      <p:sp>
        <p:nvSpPr>
          <p:cNvPr id="31" name="Text 29"/>
          <p:cNvSpPr/>
          <p:nvPr/>
        </p:nvSpPr>
        <p:spPr>
          <a:xfrm>
            <a:off x="4864608" y="3840480"/>
            <a:ext cx="457200" cy="457200"/>
          </a:xfrm>
          <a:prstGeom prst="rect">
            <a:avLst/>
          </a:prstGeom>
          <a:noFill/>
        </p:spPr>
        <p:txBody>
          <a:bodyPr wrap="square" rtlCol="0" anchor="ctr"/>
          <a:lstStyle/>
          <a:p>
            <a:pPr marL="0" indent="0" algn="ctr">
              <a:buNone/>
            </a:pPr>
            <a:r>
              <a:rPr lang="en-US" sz="1100" b="1" dirty="0">
                <a:solidFill>
                  <a:srgbClr val="021C29"/>
                </a:solidFill>
                <a:latin typeface="Cambria" panose="02040503050406030204" pitchFamily="34" charset="0"/>
                <a:ea typeface="Cambria" panose="02040503050406030204" pitchFamily="34" charset="-122"/>
                <a:cs typeface="Cambria" panose="02040503050406030204" pitchFamily="34" charset="-120"/>
              </a:rPr>
              <a:t>06</a:t>
            </a:r>
            <a:endParaRPr lang="en-US" sz="1100" dirty="0"/>
          </a:p>
        </p:txBody>
      </p:sp>
      <p:sp>
        <p:nvSpPr>
          <p:cNvPr id="32" name="Text 30"/>
          <p:cNvSpPr/>
          <p:nvPr/>
        </p:nvSpPr>
        <p:spPr>
          <a:xfrm>
            <a:off x="5422392" y="3657600"/>
            <a:ext cx="3383280" cy="347472"/>
          </a:xfrm>
          <a:prstGeom prst="rect">
            <a:avLst/>
          </a:prstGeom>
          <a:noFill/>
        </p:spPr>
        <p:txBody>
          <a:bodyPr wrap="square" rtlCol="0" anchor="ctr"/>
          <a:lstStyle/>
          <a:p>
            <a:pPr marL="0" indent="0">
              <a:buNone/>
            </a:pPr>
            <a:r>
              <a:rPr lang="en-US" sz="1300" b="1" dirty="0">
                <a:solidFill>
                  <a:srgbClr val="065A82"/>
                </a:solidFill>
                <a:latin typeface="Cambria" panose="02040503050406030204" pitchFamily="34" charset="0"/>
                <a:ea typeface="Cambria" panose="02040503050406030204" pitchFamily="34" charset="-122"/>
                <a:cs typeface="Cambria" panose="02040503050406030204" pitchFamily="34" charset="-120"/>
              </a:rPr>
              <a:t>Health Advisory Critical</a:t>
            </a:r>
            <a:endParaRPr lang="en-US" sz="1300" dirty="0"/>
          </a:p>
        </p:txBody>
      </p:sp>
      <p:sp>
        <p:nvSpPr>
          <p:cNvPr id="33" name="Text 31"/>
          <p:cNvSpPr/>
          <p:nvPr/>
        </p:nvSpPr>
        <p:spPr>
          <a:xfrm>
            <a:off x="5422392" y="4041648"/>
            <a:ext cx="3383280" cy="658368"/>
          </a:xfrm>
          <a:prstGeom prst="rect">
            <a:avLst/>
          </a:prstGeom>
          <a:noFill/>
        </p:spPr>
        <p:txBody>
          <a:bodyPr wrap="square" rtlCol="0" anchor="ctr"/>
          <a:lstStyle/>
          <a:p>
            <a:pPr marL="0" indent="0">
              <a:buNone/>
            </a:pPr>
            <a:r>
              <a:rPr lang="en-US" sz="1150" dirty="0">
                <a:solidFill>
                  <a:srgbClr val="64748B"/>
                </a:solidFill>
                <a:latin typeface="Calibri" panose="020F0502020204030204" pitchFamily="34" charset="0"/>
                <a:ea typeface="Calibri" panose="020F0502020204030204" pitchFamily="34" charset="-122"/>
                <a:cs typeface="Calibri" panose="020F0502020204030204" pitchFamily="34" charset="-120"/>
              </a:rPr>
              <a:t>A significant percentage of days require caution or restrict outdoor activity advisories.</a:t>
            </a:r>
            <a:endParaRPr lang="en-US" sz="1150" dirty="0"/>
          </a:p>
        </p:txBody>
      </p:sp>
      <p:sp>
        <p:nvSpPr>
          <p:cNvPr id="34" name="Shape 32"/>
          <p:cNvSpPr/>
          <p:nvPr/>
        </p:nvSpPr>
        <p:spPr>
          <a:xfrm>
            <a:off x="0" y="5070348"/>
            <a:ext cx="9144000" cy="73152"/>
          </a:xfrm>
          <a:prstGeom prst="rect">
            <a:avLst/>
          </a:prstGeom>
          <a:solidFill>
            <a:srgbClr val="02C39A"/>
          </a:solidFill>
          <a:ln w="12700">
            <a:solidFill>
              <a:srgbClr val="02C39A"/>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1C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228600"/>
            <a:ext cx="8229600" cy="594360"/>
          </a:xfrm>
          <a:prstGeom prst="rect">
            <a:avLst/>
          </a:prstGeom>
          <a:noFill/>
        </p:spPr>
        <p:txBody>
          <a:bodyPr wrap="square" rtlCol="0" anchor="ctr"/>
          <a:lstStyle/>
          <a:p>
            <a:pPr marL="0" indent="0">
              <a:buNone/>
            </a:pPr>
            <a:r>
              <a:rPr lang="en-US" sz="28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Conclusion &amp; Recommendations</a:t>
            </a:r>
            <a:endParaRPr lang="en-US" sz="2800" dirty="0"/>
          </a:p>
        </p:txBody>
      </p:sp>
      <p:sp>
        <p:nvSpPr>
          <p:cNvPr id="4" name="Shape 2"/>
          <p:cNvSpPr/>
          <p:nvPr/>
        </p:nvSpPr>
        <p:spPr>
          <a:xfrm>
            <a:off x="365760" y="960120"/>
            <a:ext cx="8412480" cy="1005840"/>
          </a:xfrm>
          <a:prstGeom prst="roundRect">
            <a:avLst>
              <a:gd name="adj" fmla="val 9091"/>
            </a:avLst>
          </a:prstGeom>
          <a:solidFill>
            <a:srgbClr val="0D3A52"/>
          </a:solidFill>
        </p:spPr>
      </p:sp>
      <p:sp>
        <p:nvSpPr>
          <p:cNvPr id="5" name="Text 3"/>
          <p:cNvSpPr/>
          <p:nvPr/>
        </p:nvSpPr>
        <p:spPr>
          <a:xfrm>
            <a:off x="548640" y="1005840"/>
            <a:ext cx="8046720" cy="914400"/>
          </a:xfrm>
          <a:prstGeom prst="rect">
            <a:avLst/>
          </a:prstGeom>
          <a:noFill/>
        </p:spPr>
        <p:txBody>
          <a:bodyPr wrap="square" rtlCol="0" anchor="ctr"/>
          <a:lstStyle/>
          <a:p>
            <a:pPr marL="0" indent="0">
              <a:buNone/>
            </a:pPr>
            <a:r>
              <a:rPr lang="en-US" sz="1250" dirty="0">
                <a:solidFill>
                  <a:srgbClr val="A0C8D8"/>
                </a:solidFill>
                <a:latin typeface="Calibri" panose="020F0502020204030204" pitchFamily="34" charset="0"/>
                <a:ea typeface="Calibri" panose="020F0502020204030204" pitchFamily="34" charset="-122"/>
                <a:cs typeface="Calibri" panose="020F0502020204030204" pitchFamily="34" charset="-120"/>
              </a:rPr>
              <a:t>This project successfully demonstrates how Power BI can transform raw air quality data into actionable visual insights. Through 32 analyses across 7 dashboard pages, we identified pollution patterns, seasonal trends, key drivers, and health impacts across 12 Indian cities.</a:t>
            </a:r>
            <a:endParaRPr lang="en-US" sz="1250" dirty="0"/>
          </a:p>
        </p:txBody>
      </p:sp>
      <p:sp>
        <p:nvSpPr>
          <p:cNvPr id="6" name="Text 4"/>
          <p:cNvSpPr/>
          <p:nvPr/>
        </p:nvSpPr>
        <p:spPr>
          <a:xfrm>
            <a:off x="457200" y="2103120"/>
            <a:ext cx="8229600" cy="347472"/>
          </a:xfrm>
          <a:prstGeom prst="rect">
            <a:avLst/>
          </a:prstGeom>
          <a:noFill/>
        </p:spPr>
        <p:txBody>
          <a:bodyPr wrap="square" rtlCol="0" anchor="ctr"/>
          <a:lstStyle/>
          <a:p>
            <a:pPr marL="0" indent="0">
              <a:buNone/>
            </a:pPr>
            <a:r>
              <a:rPr lang="en-US" sz="1500" b="1" dirty="0">
                <a:solidFill>
                  <a:srgbClr val="02C39A"/>
                </a:solidFill>
                <a:latin typeface="Cambria" panose="02040503050406030204" pitchFamily="34" charset="0"/>
                <a:ea typeface="Cambria" panose="02040503050406030204" pitchFamily="34" charset="-122"/>
                <a:cs typeface="Cambria" panose="02040503050406030204" pitchFamily="34" charset="-120"/>
              </a:rPr>
              <a:t>Policy Recommendations</a:t>
            </a:r>
            <a:endParaRPr lang="en-US" sz="1500" dirty="0"/>
          </a:p>
        </p:txBody>
      </p:sp>
      <p:sp>
        <p:nvSpPr>
          <p:cNvPr id="7" name="Shape 5"/>
          <p:cNvSpPr/>
          <p:nvPr/>
        </p:nvSpPr>
        <p:spPr>
          <a:xfrm>
            <a:off x="365760" y="2514600"/>
            <a:ext cx="8412480" cy="402336"/>
          </a:xfrm>
          <a:prstGeom prst="roundRect">
            <a:avLst>
              <a:gd name="adj" fmla="val 18182"/>
            </a:avLst>
          </a:prstGeom>
          <a:solidFill>
            <a:srgbClr val="0D3A52"/>
          </a:solidFill>
        </p:spPr>
      </p:sp>
      <p:sp>
        <p:nvSpPr>
          <p:cNvPr id="8" name="Text 6"/>
          <p:cNvSpPr/>
          <p:nvPr/>
        </p:nvSpPr>
        <p:spPr>
          <a:xfrm>
            <a:off x="548640" y="2542032"/>
            <a:ext cx="8046720" cy="329184"/>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Regulate industrial emissions in high-pollution cities like Patna and Delhi.</a:t>
            </a:r>
            <a:endParaRPr lang="en-US" sz="1200" dirty="0"/>
          </a:p>
        </p:txBody>
      </p:sp>
      <p:sp>
        <p:nvSpPr>
          <p:cNvPr id="9" name="Shape 7"/>
          <p:cNvSpPr/>
          <p:nvPr/>
        </p:nvSpPr>
        <p:spPr>
          <a:xfrm>
            <a:off x="365760" y="2990088"/>
            <a:ext cx="8412480" cy="402336"/>
          </a:xfrm>
          <a:prstGeom prst="roundRect">
            <a:avLst>
              <a:gd name="adj" fmla="val 18182"/>
            </a:avLst>
          </a:prstGeom>
          <a:solidFill>
            <a:srgbClr val="0D3A52"/>
          </a:solidFill>
        </p:spPr>
      </p:sp>
      <p:sp>
        <p:nvSpPr>
          <p:cNvPr id="10" name="Text 8"/>
          <p:cNvSpPr/>
          <p:nvPr/>
        </p:nvSpPr>
        <p:spPr>
          <a:xfrm>
            <a:off x="548640" y="3017520"/>
            <a:ext cx="8046720" cy="329184"/>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Invest in public transportation to reduce Traffic Index in urban areas.</a:t>
            </a:r>
            <a:endParaRPr lang="en-US" sz="1200" dirty="0"/>
          </a:p>
        </p:txBody>
      </p:sp>
      <p:sp>
        <p:nvSpPr>
          <p:cNvPr id="11" name="Shape 9"/>
          <p:cNvSpPr/>
          <p:nvPr/>
        </p:nvSpPr>
        <p:spPr>
          <a:xfrm>
            <a:off x="365760" y="3465576"/>
            <a:ext cx="8412480" cy="402336"/>
          </a:xfrm>
          <a:prstGeom prst="roundRect">
            <a:avLst>
              <a:gd name="adj" fmla="val 18182"/>
            </a:avLst>
          </a:prstGeom>
          <a:solidFill>
            <a:srgbClr val="0D3A52"/>
          </a:solidFill>
        </p:spPr>
      </p:sp>
      <p:sp>
        <p:nvSpPr>
          <p:cNvPr id="12" name="Text 10"/>
          <p:cNvSpPr/>
          <p:nvPr/>
        </p:nvSpPr>
        <p:spPr>
          <a:xfrm>
            <a:off x="548640" y="3493008"/>
            <a:ext cx="8046720" cy="329184"/>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Increase green cover and urban forests to naturally filter air pollutants.</a:t>
            </a:r>
            <a:endParaRPr lang="en-US" sz="1200" dirty="0"/>
          </a:p>
        </p:txBody>
      </p:sp>
      <p:sp>
        <p:nvSpPr>
          <p:cNvPr id="13" name="Shape 11"/>
          <p:cNvSpPr/>
          <p:nvPr/>
        </p:nvSpPr>
        <p:spPr>
          <a:xfrm>
            <a:off x="365760" y="3941064"/>
            <a:ext cx="8412480" cy="402336"/>
          </a:xfrm>
          <a:prstGeom prst="roundRect">
            <a:avLst>
              <a:gd name="adj" fmla="val 18182"/>
            </a:avLst>
          </a:prstGeom>
          <a:solidFill>
            <a:srgbClr val="0D3A52"/>
          </a:solidFill>
        </p:spPr>
      </p:sp>
      <p:sp>
        <p:nvSpPr>
          <p:cNvPr id="14" name="Text 12"/>
          <p:cNvSpPr/>
          <p:nvPr/>
        </p:nvSpPr>
        <p:spPr>
          <a:xfrm>
            <a:off x="548640" y="3968496"/>
            <a:ext cx="8046720" cy="329184"/>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Deploy real-time AQI monitoring stations in all cities for live data analysis.</a:t>
            </a:r>
            <a:endParaRPr lang="en-US" sz="1200" dirty="0"/>
          </a:p>
        </p:txBody>
      </p:sp>
      <p:sp>
        <p:nvSpPr>
          <p:cNvPr id="15" name="Shape 13"/>
          <p:cNvSpPr/>
          <p:nvPr/>
        </p:nvSpPr>
        <p:spPr>
          <a:xfrm>
            <a:off x="365760" y="4416552"/>
            <a:ext cx="8412480" cy="402336"/>
          </a:xfrm>
          <a:prstGeom prst="roundRect">
            <a:avLst>
              <a:gd name="adj" fmla="val 18182"/>
            </a:avLst>
          </a:prstGeom>
          <a:solidFill>
            <a:srgbClr val="0D3A52"/>
          </a:solidFill>
        </p:spPr>
      </p:sp>
      <p:sp>
        <p:nvSpPr>
          <p:cNvPr id="16" name="Text 14"/>
          <p:cNvSpPr/>
          <p:nvPr/>
        </p:nvSpPr>
        <p:spPr>
          <a:xfrm>
            <a:off x="548640" y="4443984"/>
            <a:ext cx="8046720" cy="329184"/>
          </a:xfrm>
          <a:prstGeom prst="rect">
            <a:avLst/>
          </a:prstGeom>
          <a:noFill/>
        </p:spPr>
        <p:txBody>
          <a:bodyPr wrap="square" rtlCol="0" anchor="ctr"/>
          <a:lstStyle/>
          <a:p>
            <a:pPr marL="0" indent="0">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  Use Power BI dashboards for government AQI monitoring and public reporting.</a:t>
            </a:r>
            <a:endParaRPr lang="en-US" sz="1200" dirty="0"/>
          </a:p>
        </p:txBody>
      </p:sp>
      <p:sp>
        <p:nvSpPr>
          <p:cNvPr id="17" name="Shape 15"/>
          <p:cNvSpPr/>
          <p:nvPr/>
        </p:nvSpPr>
        <p:spPr>
          <a:xfrm>
            <a:off x="0" y="5070348"/>
            <a:ext cx="9144000" cy="73152"/>
          </a:xfrm>
          <a:prstGeom prst="rect">
            <a:avLst/>
          </a:prstGeom>
          <a:solidFill>
            <a:srgbClr val="02C39A"/>
          </a:solidFill>
          <a:ln w="12700">
            <a:solidFill>
              <a:srgbClr val="02C39A"/>
            </a:solidFill>
            <a:prstDash val="solid"/>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1C29"/>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2C39A"/>
          </a:solidFill>
          <a:ln w="12700">
            <a:solidFill>
              <a:srgbClr val="02C39A"/>
            </a:solidFill>
            <a:prstDash val="solid"/>
          </a:ln>
        </p:spPr>
      </p:sp>
      <p:sp>
        <p:nvSpPr>
          <p:cNvPr id="3" name="Text 1"/>
          <p:cNvSpPr/>
          <p:nvPr/>
        </p:nvSpPr>
        <p:spPr>
          <a:xfrm>
            <a:off x="457200" y="1371600"/>
            <a:ext cx="8229600" cy="1097280"/>
          </a:xfrm>
          <a:prstGeom prst="rect">
            <a:avLst/>
          </a:prstGeom>
          <a:noFill/>
        </p:spPr>
        <p:txBody>
          <a:bodyPr wrap="square" rtlCol="0" anchor="ctr"/>
          <a:lstStyle/>
          <a:p>
            <a:pPr marL="0" indent="0" algn="ctr">
              <a:buNone/>
            </a:pPr>
            <a:r>
              <a:rPr lang="en-US" sz="5200" b="1" dirty="0">
                <a:solidFill>
                  <a:srgbClr val="FFFFFF"/>
                </a:solidFill>
                <a:latin typeface="Cambria" panose="02040503050406030204" pitchFamily="34" charset="0"/>
                <a:ea typeface="Cambria" panose="02040503050406030204" pitchFamily="34" charset="-122"/>
                <a:cs typeface="Cambria" panose="02040503050406030204" pitchFamily="34" charset="-120"/>
              </a:rPr>
              <a:t>Thank You</a:t>
            </a:r>
            <a:endParaRPr lang="en-US" sz="5200" dirty="0"/>
          </a:p>
        </p:txBody>
      </p:sp>
      <p:sp>
        <p:nvSpPr>
          <p:cNvPr id="5" name="Shape 3"/>
          <p:cNvSpPr/>
          <p:nvPr/>
        </p:nvSpPr>
        <p:spPr>
          <a:xfrm>
            <a:off x="685800" y="3337560"/>
            <a:ext cx="1828800" cy="914400"/>
          </a:xfrm>
          <a:prstGeom prst="roundRect">
            <a:avLst>
              <a:gd name="adj" fmla="val 10000"/>
            </a:avLst>
          </a:prstGeom>
          <a:solidFill>
            <a:srgbClr val="0D3A52"/>
          </a:solidFill>
        </p:spPr>
        <p:txBody>
          <a:bodyPr/>
          <a:p>
            <a:endParaRPr lang="en-US"/>
          </a:p>
        </p:txBody>
      </p:sp>
      <p:sp>
        <p:nvSpPr>
          <p:cNvPr id="6" name="Text 4"/>
          <p:cNvSpPr/>
          <p:nvPr/>
        </p:nvSpPr>
        <p:spPr>
          <a:xfrm>
            <a:off x="685800" y="3364992"/>
            <a:ext cx="1828800" cy="475488"/>
          </a:xfrm>
          <a:prstGeom prst="rect">
            <a:avLst/>
          </a:prstGeom>
          <a:noFill/>
        </p:spPr>
        <p:txBody>
          <a:bodyPr wrap="square" rtlCol="0" anchor="ctr"/>
          <a:lstStyle/>
          <a:p>
            <a:pPr marL="0" indent="0" algn="ctr">
              <a:buNone/>
            </a:pPr>
            <a:r>
              <a:rPr lang="en-IN" altLang="en-US" sz="2800" dirty="0">
                <a:solidFill>
                  <a:schemeClr val="accent6">
                    <a:lumMod val="60000"/>
                    <a:lumOff val="40000"/>
                  </a:schemeClr>
                </a:solidFill>
              </a:rPr>
              <a:t>9</a:t>
            </a:r>
            <a:endParaRPr lang="en-IN" altLang="en-US" sz="2800" dirty="0">
              <a:solidFill>
                <a:schemeClr val="accent6">
                  <a:lumMod val="60000"/>
                  <a:lumOff val="40000"/>
                </a:schemeClr>
              </a:solidFill>
            </a:endParaRPr>
          </a:p>
        </p:txBody>
      </p:sp>
      <p:sp>
        <p:nvSpPr>
          <p:cNvPr id="7" name="Text 5"/>
          <p:cNvSpPr/>
          <p:nvPr/>
        </p:nvSpPr>
        <p:spPr>
          <a:xfrm>
            <a:off x="685800" y="3822192"/>
            <a:ext cx="1828800" cy="347472"/>
          </a:xfrm>
          <a:prstGeom prst="rect">
            <a:avLst/>
          </a:prstGeom>
          <a:noFill/>
        </p:spPr>
        <p:txBody>
          <a:bodyPr wrap="square" rtlCol="0" anchor="ctr"/>
          <a:lstStyle/>
          <a:p>
            <a:pPr marL="0" indent="0" algn="ctr">
              <a:buNone/>
            </a:pPr>
            <a:r>
              <a:rPr lang="en-US" sz="1200" dirty="0">
                <a:solidFill>
                  <a:srgbClr val="A0C8D8"/>
                </a:solidFill>
                <a:latin typeface="Calibri" panose="020F0502020204030204" pitchFamily="34" charset="0"/>
                <a:ea typeface="Calibri" panose="020F0502020204030204" pitchFamily="34" charset="-122"/>
                <a:cs typeface="Calibri" panose="020F0502020204030204" pitchFamily="34" charset="-120"/>
              </a:rPr>
              <a:t>Dashboard Pages</a:t>
            </a:r>
            <a:endParaRPr lang="en-US" sz="1200" dirty="0"/>
          </a:p>
        </p:txBody>
      </p:sp>
      <p:sp>
        <p:nvSpPr>
          <p:cNvPr id="8" name="Shape 6"/>
          <p:cNvSpPr/>
          <p:nvPr/>
        </p:nvSpPr>
        <p:spPr>
          <a:xfrm>
            <a:off x="2788920" y="3337560"/>
            <a:ext cx="1828800" cy="914400"/>
          </a:xfrm>
          <a:prstGeom prst="roundRect">
            <a:avLst>
              <a:gd name="adj" fmla="val 10000"/>
            </a:avLst>
          </a:prstGeom>
          <a:solidFill>
            <a:srgbClr val="0D3A52"/>
          </a:solidFill>
        </p:spPr>
      </p:sp>
      <p:sp>
        <p:nvSpPr>
          <p:cNvPr id="9" name="Text 7"/>
          <p:cNvSpPr/>
          <p:nvPr/>
        </p:nvSpPr>
        <p:spPr>
          <a:xfrm>
            <a:off x="2788920" y="3364992"/>
            <a:ext cx="1828800" cy="475488"/>
          </a:xfrm>
          <a:prstGeom prst="rect">
            <a:avLst/>
          </a:prstGeom>
          <a:noFill/>
        </p:spPr>
        <p:txBody>
          <a:bodyPr wrap="square" rtlCol="0" anchor="ctr"/>
          <a:lstStyle/>
          <a:p>
            <a:pPr marL="0" indent="0" algn="ctr">
              <a:buNone/>
            </a:pPr>
            <a:r>
              <a:rPr lang="en-US" sz="2800" b="1" dirty="0">
                <a:solidFill>
                  <a:srgbClr val="02C39A"/>
                </a:solidFill>
                <a:latin typeface="Cambria" panose="02040503050406030204" pitchFamily="34" charset="0"/>
                <a:ea typeface="Cambria" panose="02040503050406030204" pitchFamily="34" charset="-122"/>
                <a:cs typeface="Cambria" panose="02040503050406030204" pitchFamily="34" charset="-120"/>
              </a:rPr>
              <a:t>32</a:t>
            </a:r>
            <a:endParaRPr lang="en-US" sz="2800" dirty="0"/>
          </a:p>
        </p:txBody>
      </p:sp>
      <p:sp>
        <p:nvSpPr>
          <p:cNvPr id="10" name="Text 8"/>
          <p:cNvSpPr/>
          <p:nvPr/>
        </p:nvSpPr>
        <p:spPr>
          <a:xfrm>
            <a:off x="2788920" y="3822192"/>
            <a:ext cx="1828800" cy="347472"/>
          </a:xfrm>
          <a:prstGeom prst="rect">
            <a:avLst/>
          </a:prstGeom>
          <a:noFill/>
        </p:spPr>
        <p:txBody>
          <a:bodyPr wrap="square" rtlCol="0" anchor="ctr"/>
          <a:lstStyle/>
          <a:p>
            <a:pPr marL="0" indent="0" algn="ctr">
              <a:buNone/>
            </a:pPr>
            <a:r>
              <a:rPr lang="en-US" sz="1200" dirty="0">
                <a:solidFill>
                  <a:srgbClr val="A0C8D8"/>
                </a:solidFill>
                <a:latin typeface="Calibri" panose="020F0502020204030204" pitchFamily="34" charset="0"/>
                <a:ea typeface="Calibri" panose="020F0502020204030204" pitchFamily="34" charset="-122"/>
                <a:cs typeface="Calibri" panose="020F0502020204030204" pitchFamily="34" charset="-120"/>
              </a:rPr>
              <a:t>Analyses</a:t>
            </a:r>
            <a:endParaRPr lang="en-US" sz="1200" dirty="0"/>
          </a:p>
        </p:txBody>
      </p:sp>
      <p:sp>
        <p:nvSpPr>
          <p:cNvPr id="11" name="Shape 9"/>
          <p:cNvSpPr/>
          <p:nvPr/>
        </p:nvSpPr>
        <p:spPr>
          <a:xfrm>
            <a:off x="4892040" y="3337560"/>
            <a:ext cx="1828800" cy="914400"/>
          </a:xfrm>
          <a:prstGeom prst="roundRect">
            <a:avLst>
              <a:gd name="adj" fmla="val 10000"/>
            </a:avLst>
          </a:prstGeom>
          <a:solidFill>
            <a:srgbClr val="0D3A52"/>
          </a:solidFill>
        </p:spPr>
      </p:sp>
      <p:sp>
        <p:nvSpPr>
          <p:cNvPr id="12" name="Text 10"/>
          <p:cNvSpPr/>
          <p:nvPr/>
        </p:nvSpPr>
        <p:spPr>
          <a:xfrm>
            <a:off x="4892040" y="3364992"/>
            <a:ext cx="1828800" cy="475488"/>
          </a:xfrm>
          <a:prstGeom prst="rect">
            <a:avLst/>
          </a:prstGeom>
          <a:noFill/>
        </p:spPr>
        <p:txBody>
          <a:bodyPr wrap="square" rtlCol="0" anchor="ctr"/>
          <a:lstStyle/>
          <a:p>
            <a:pPr marL="0" indent="0" algn="ctr">
              <a:buNone/>
            </a:pPr>
            <a:r>
              <a:rPr lang="en-US" sz="2800" b="1" dirty="0">
                <a:solidFill>
                  <a:srgbClr val="02C39A"/>
                </a:solidFill>
                <a:latin typeface="Cambria" panose="02040503050406030204" pitchFamily="34" charset="0"/>
                <a:ea typeface="Cambria" panose="02040503050406030204" pitchFamily="34" charset="-122"/>
                <a:cs typeface="Cambria" panose="02040503050406030204" pitchFamily="34" charset="-120"/>
              </a:rPr>
              <a:t>20</a:t>
            </a:r>
            <a:endParaRPr lang="en-US" sz="2800" dirty="0"/>
          </a:p>
        </p:txBody>
      </p:sp>
      <p:sp>
        <p:nvSpPr>
          <p:cNvPr id="13" name="Text 11"/>
          <p:cNvSpPr/>
          <p:nvPr/>
        </p:nvSpPr>
        <p:spPr>
          <a:xfrm>
            <a:off x="4892040" y="3822192"/>
            <a:ext cx="1828800" cy="347472"/>
          </a:xfrm>
          <a:prstGeom prst="rect">
            <a:avLst/>
          </a:prstGeom>
          <a:noFill/>
        </p:spPr>
        <p:txBody>
          <a:bodyPr wrap="square" rtlCol="0" anchor="ctr"/>
          <a:lstStyle/>
          <a:p>
            <a:pPr marL="0" indent="0" algn="ctr">
              <a:buNone/>
            </a:pPr>
            <a:r>
              <a:rPr lang="en-US" sz="1200" dirty="0">
                <a:solidFill>
                  <a:srgbClr val="A0C8D8"/>
                </a:solidFill>
                <a:latin typeface="Calibri" panose="020F0502020204030204" pitchFamily="34" charset="0"/>
                <a:ea typeface="Calibri" panose="020F0502020204030204" pitchFamily="34" charset="-122"/>
                <a:cs typeface="Calibri" panose="020F0502020204030204" pitchFamily="34" charset="-120"/>
              </a:rPr>
              <a:t>Columns</a:t>
            </a:r>
            <a:endParaRPr lang="en-US" sz="1200" dirty="0"/>
          </a:p>
        </p:txBody>
      </p:sp>
      <p:sp>
        <p:nvSpPr>
          <p:cNvPr id="14" name="Shape 12"/>
          <p:cNvSpPr/>
          <p:nvPr/>
        </p:nvSpPr>
        <p:spPr>
          <a:xfrm>
            <a:off x="6995160" y="3337560"/>
            <a:ext cx="1828800" cy="914400"/>
          </a:xfrm>
          <a:prstGeom prst="roundRect">
            <a:avLst>
              <a:gd name="adj" fmla="val 10000"/>
            </a:avLst>
          </a:prstGeom>
          <a:solidFill>
            <a:srgbClr val="0D3A52"/>
          </a:solidFill>
        </p:spPr>
      </p:sp>
      <p:sp>
        <p:nvSpPr>
          <p:cNvPr id="15" name="Text 13"/>
          <p:cNvSpPr/>
          <p:nvPr/>
        </p:nvSpPr>
        <p:spPr>
          <a:xfrm>
            <a:off x="6995160" y="3364992"/>
            <a:ext cx="1828800" cy="475488"/>
          </a:xfrm>
          <a:prstGeom prst="rect">
            <a:avLst/>
          </a:prstGeom>
          <a:noFill/>
        </p:spPr>
        <p:txBody>
          <a:bodyPr wrap="square" rtlCol="0" anchor="ctr"/>
          <a:lstStyle/>
          <a:p>
            <a:pPr marL="0" indent="0" algn="ctr">
              <a:buNone/>
            </a:pPr>
            <a:r>
              <a:rPr lang="en-US" sz="2800" b="1" dirty="0">
                <a:solidFill>
                  <a:srgbClr val="02C39A"/>
                </a:solidFill>
                <a:latin typeface="Cambria" panose="02040503050406030204" pitchFamily="34" charset="0"/>
                <a:ea typeface="Cambria" panose="02040503050406030204" pitchFamily="34" charset="-122"/>
                <a:cs typeface="Cambria" panose="02040503050406030204" pitchFamily="34" charset="-120"/>
              </a:rPr>
              <a:t>12</a:t>
            </a:r>
            <a:endParaRPr lang="en-US" sz="2800" dirty="0"/>
          </a:p>
        </p:txBody>
      </p:sp>
      <p:sp>
        <p:nvSpPr>
          <p:cNvPr id="16" name="Text 14"/>
          <p:cNvSpPr/>
          <p:nvPr/>
        </p:nvSpPr>
        <p:spPr>
          <a:xfrm>
            <a:off x="6995160" y="3822192"/>
            <a:ext cx="1828800" cy="347472"/>
          </a:xfrm>
          <a:prstGeom prst="rect">
            <a:avLst/>
          </a:prstGeom>
          <a:noFill/>
        </p:spPr>
        <p:txBody>
          <a:bodyPr wrap="square" rtlCol="0" anchor="ctr"/>
          <a:lstStyle/>
          <a:p>
            <a:pPr marL="0" indent="0" algn="ctr">
              <a:buNone/>
            </a:pPr>
            <a:r>
              <a:rPr lang="en-US" sz="1200" dirty="0">
                <a:solidFill>
                  <a:srgbClr val="A0C8D8"/>
                </a:solidFill>
                <a:latin typeface="Calibri" panose="020F0502020204030204" pitchFamily="34" charset="0"/>
                <a:ea typeface="Calibri" panose="020F0502020204030204" pitchFamily="34" charset="-122"/>
                <a:cs typeface="Calibri" panose="020F0502020204030204" pitchFamily="34" charset="-120"/>
              </a:rPr>
              <a:t>Cities</a:t>
            </a:r>
            <a:endParaRPr lang="en-US" sz="1200" dirty="0"/>
          </a:p>
        </p:txBody>
      </p:sp>
      <p:sp>
        <p:nvSpPr>
          <p:cNvPr id="18" name="Shape 16"/>
          <p:cNvSpPr/>
          <p:nvPr/>
        </p:nvSpPr>
        <p:spPr>
          <a:xfrm>
            <a:off x="0" y="5070348"/>
            <a:ext cx="9144000" cy="73152"/>
          </a:xfrm>
          <a:prstGeom prst="rect">
            <a:avLst/>
          </a:prstGeom>
          <a:solidFill>
            <a:srgbClr val="02C39A"/>
          </a:solidFill>
          <a:ln w="12700">
            <a:solidFill>
              <a:srgbClr val="02C39A"/>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6764</Words>
  <Application>WPS Presentation</Application>
  <PresentationFormat>On-screen Show (16:9)</PresentationFormat>
  <Paragraphs>418</Paragraphs>
  <Slides>15</Slides>
  <Notes>15</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15</vt:i4>
      </vt:variant>
    </vt:vector>
  </HeadingPairs>
  <TitlesOfParts>
    <vt:vector size="30" baseType="lpstr">
      <vt:lpstr>Arial</vt:lpstr>
      <vt:lpstr>SimSun</vt:lpstr>
      <vt:lpstr>Wingdings</vt:lpstr>
      <vt:lpstr>Cambria</vt:lpstr>
      <vt:lpstr>Cambria</vt:lpstr>
      <vt:lpstr>Cambria</vt:lpstr>
      <vt:lpstr>Calibri</vt:lpstr>
      <vt:lpstr>Calibri</vt:lpstr>
      <vt:lpstr>Calibri</vt:lpstr>
      <vt:lpstr>Courier New</vt:lpstr>
      <vt:lpstr>Courier New</vt:lpstr>
      <vt:lpstr>Courier New</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AQI Analysis - Power BI Project</dc:title>
  <dc:creator>PptxGenJS</dc:creator>
  <dc:subject>PptxGenJS Presentation</dc:subject>
  <cp:lastModifiedBy>Bhavya</cp:lastModifiedBy>
  <cp:revision>4</cp:revision>
  <dcterms:created xsi:type="dcterms:W3CDTF">2026-07-02T10:03:00Z</dcterms:created>
  <dcterms:modified xsi:type="dcterms:W3CDTF">2026-07-03T09:39:07Z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CB7FD2D9D8EF4EC4A7414520953779E2_13</vt:lpwstr>
  </property>
</Properties>
</file>